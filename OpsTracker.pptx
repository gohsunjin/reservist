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56" r:id="rId11"/>
    <p:sldId id="257" r:id="rId10"/>
    <p:sldId id="258" r:id="rId9"/>
    <p:sldId id="259" r:id="rId8"/>
    <p:sldId id="260" r:id="rId7"/>
    <p:sldId id="261" r:id="rId6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407508-81B4-6EFC-F895-E826FE0FE1FC}" name="P&amp;O/Strategy" initials="P&amp;O/Strat" userId="P&amp;O/Strategy" providerId="None"/>
  <p188:author id="{AD7BD188-E525-85EC-A2C1-D9E0F2E0B165}" name="Melvin SEAH (SPF)" initials="MS" userId="S::Melvin_SEAH@spf.gov.sg::922f2373-2615-498f-8b25-c3f3c4108e0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63D73"/>
    <a:srgbClr val="00205B"/>
    <a:srgbClr val="9BBB59"/>
    <a:srgbClr val="4BACC6"/>
    <a:srgbClr val="92D050"/>
    <a:srgbClr val="FEFEFE"/>
    <a:srgbClr val="5C0000"/>
    <a:srgbClr val="002009"/>
    <a:srgbClr val="3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817" autoAdjust="0"/>
    <p:restoredTop sz="62745" autoAdjust="0"/>
  </p:normalViewPr>
  <p:slideViewPr>
    <p:cSldViewPr snapToGrid="0" snapToObjects="1">
      <p:cViewPr varScale="1">
        <p:scale>
          <a:sx n="85" d="100"/>
          <a:sy n="85" d="100"/>
        </p:scale>
        <p:origin x="139" y="62"/>
      </p:cViewPr>
      <p:guideLst/>
    </p:cSldViewPr>
  </p:slideViewPr>
  <p:outlineViewPr>
    <p:cViewPr>
      <p:scale>
        <a:sx n="33" d="100"/>
        <a:sy n="33" d="100"/>
      </p:scale>
      <p:origin x="0" y="-34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9" d="100"/>
          <a:sy n="59" d="100"/>
        </p:scale>
        <p:origin x="2928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CAC3C-B009-FA41-9B48-29A5200803A4}" type="datetimeFigureOut">
              <a:rPr lang="en-US" smtClean="0"/>
              <a:t>7/27/2026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4B44-6E28-B340-9E16-1750E552A29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3105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9CF-BB78-AF42-B848-C85C22DB22AC}" type="datetimeFigureOut">
              <a:rPr lang="en-US" smtClean="0"/>
              <a:t>7/27/2026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BDEA8-D6D0-1446-BC9A-CAD97D1E668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29711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ti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ti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t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ti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4" y="0"/>
            <a:ext cx="12200031" cy="6867850"/>
          </a:xfrm>
          <a:prstGeom prst="rect">
            <a:avLst/>
          </a:prstGeom>
        </p:spPr>
      </p:pic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>
          <a:xfrm>
            <a:off x="1126672" y="2039815"/>
            <a:ext cx="11065328" cy="1358901"/>
          </a:xfrm>
        </p:spPr>
        <p:txBody>
          <a:bodyPr>
            <a:no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kern="0" dirty="0"/>
              <a:t>Title of Presentation</a:t>
            </a:r>
            <a:endParaRPr lang="en-SG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924664" y="4887198"/>
            <a:ext cx="346663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 b="1">
                <a:solidFill>
                  <a:srgbClr val="00205B"/>
                </a:solidFill>
              </a:defRPr>
            </a:lvl2pPr>
            <a:lvl3pPr marL="914400" indent="0">
              <a:buNone/>
              <a:defRPr sz="1200" b="1">
                <a:solidFill>
                  <a:srgbClr val="00205B"/>
                </a:solidFill>
              </a:defRPr>
            </a:lvl3pPr>
            <a:lvl4pPr marL="1371600" indent="0">
              <a:buNone/>
              <a:defRPr sz="1200" b="1">
                <a:solidFill>
                  <a:srgbClr val="00205B"/>
                </a:solidFill>
              </a:defRPr>
            </a:lvl4pPr>
            <a:lvl5pPr marL="1828800" indent="0">
              <a:buNone/>
              <a:defRPr sz="1200" b="1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SG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043" y="319802"/>
            <a:ext cx="2699794" cy="995192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527C60-A4BE-422D-8089-0E0DFD9242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6672" y="3564723"/>
            <a:ext cx="11062624" cy="50445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SG" dirty="0"/>
              <a:t>For Information / Update / etc.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7329F19-1642-F343-C5E3-48AD8536F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6672" y="4206199"/>
            <a:ext cx="11062623" cy="50445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SG" dirty="0"/>
              <a:t>Unit/Presenter 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432E0DE4-1E5D-974B-37EF-20EECF2707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26673" y="6353151"/>
            <a:ext cx="1910441" cy="504459"/>
          </a:xfrm>
        </p:spPr>
        <p:txBody>
          <a:bodyPr/>
          <a:lstStyle>
            <a:lvl1pPr algn="ctr">
              <a:defRPr sz="1100" b="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1031782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 preferRelativeResize="0"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989" y="0"/>
            <a:ext cx="12204000" cy="6858000"/>
          </a:xfrm>
          <a:prstGeom prst="rect">
            <a:avLst/>
          </a:prstGeom>
        </p:spPr>
      </p:pic>
      <p:sp>
        <p:nvSpPr>
          <p:cNvPr id="9" name="Title 16">
            <a:extLst>
              <a:ext uri="{FF2B5EF4-FFF2-40B4-BE49-F238E27FC236}">
                <a16:creationId xmlns:a16="http://schemas.microsoft.com/office/drawing/2014/main" id="{4E1708FC-6E89-43C0-BBAE-25B6B4F43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671" y="2848541"/>
            <a:ext cx="11062623" cy="1160918"/>
          </a:xfrm>
        </p:spPr>
        <p:txBody>
          <a:bodyPr>
            <a:noAutofit/>
          </a:bodyPr>
          <a:lstStyle>
            <a:lvl1pPr algn="ctr">
              <a:defRPr sz="3600" b="1">
                <a:solidFill>
                  <a:srgbClr val="00205B"/>
                </a:solidFill>
              </a:defRPr>
            </a:lvl1pPr>
          </a:lstStyle>
          <a:p>
            <a:r>
              <a:rPr lang="en-SG" dirty="0"/>
              <a:t>Sub-Section Title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34D9E21-9F91-40AF-91BE-CA9F71049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D4CBA1B9-E0EA-43B9-B645-15D7EDFF92A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26672" y="6580140"/>
            <a:ext cx="11065328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3632212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 slide (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937" y="-1120"/>
            <a:ext cx="9139943" cy="6858000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DE75DC7-B66F-6378-425E-7BC6B09BDE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5436" y="1057071"/>
            <a:ext cx="9936000" cy="5305629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2B9077E-5E39-498A-A27B-67EF9307E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2042" y="248591"/>
            <a:ext cx="9936000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6BEA835-694B-E3C7-994A-6E0F2896E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0060DA8-E5D0-8642-B29D-7CA51A2346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19188" y="6580140"/>
            <a:ext cx="11072812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309218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937" y="0"/>
            <a:ext cx="9139943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627108" y="1058400"/>
            <a:ext cx="9936000" cy="5304300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07791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34778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700B58-3447-AAB2-2FD3-5EB9A054E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2042" y="248591"/>
            <a:ext cx="9936000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(Chevron)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8296875-7205-4E24-9DFD-499A405E6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5FE7A1E7-3E5A-47AC-9BE4-B8957A5B05B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19188" y="6580140"/>
            <a:ext cx="11072812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2504254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1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ntent slide (Number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057" y="0"/>
            <a:ext cx="9139943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3EB45E-4032-4898-AF92-9DCE3F926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950" y="252401"/>
            <a:ext cx="10792695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639D91A-F574-8453-D366-DEED46EEE0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622" y="1057071"/>
            <a:ext cx="10039023" cy="5305629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7255B43-318E-54F8-83B0-37DD82DDD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2260FC5E-1BE0-4844-BB03-EA4375CD84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-7495" y="6588551"/>
            <a:ext cx="10899613" cy="269449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2381055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057" y="0"/>
            <a:ext cx="9139943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B106BE1-21F7-05F1-7F77-6C6E93F9F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74" y="252401"/>
            <a:ext cx="10757526" cy="58761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(Chevron) 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704571D-9C0A-35A6-F85F-AC72977381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295" y="1058400"/>
            <a:ext cx="10072520" cy="5304300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07791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34778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DDCF467-107E-404F-7680-5AB1100382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FEA09984-3C37-41C9-AD31-C9CAD3F3590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-7495" y="6588551"/>
            <a:ext cx="10899613" cy="269449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2698936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 slide (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AB80B-0228-6055-DC24-03DF87E2B7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04" y="-4159"/>
            <a:ext cx="12192000" cy="68815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EB8A0AB-9CBE-47A1-8192-668C8198F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620" y="129490"/>
            <a:ext cx="10734376" cy="55451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A729689-FF58-0AE7-71AE-8C6713E1DC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620" y="979661"/>
            <a:ext cx="11088000" cy="5331491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6C27A1A5-3F24-4D3B-A644-9C6A31F6BB1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80140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DEEC138-7060-4D48-82B2-B277906A0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AA2F1D-E353-7984-4FEC-F7D5EA4257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815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EB8A0AB-9CBE-47A1-8192-668C8198F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37" y="125736"/>
            <a:ext cx="10733025" cy="55451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32 (Chevron) 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FDDA4D4-24BB-4256-713D-2AA676C585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876" y="979662"/>
            <a:ext cx="11088000" cy="5322526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16046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43033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52E67F5-0848-4883-8D1B-10C96103737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80140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874B9FE-98DE-4377-9680-28E6553E4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77996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89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wide content slide (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DF51F0-DA93-F588-3A86-3195DC9BE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200" y="-1988"/>
            <a:ext cx="12193200" cy="686197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7CB87F9-85F1-6EDE-03E9-E97EC68C4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862" y="226815"/>
            <a:ext cx="11998276" cy="6524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(Numbering)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968E9AF-AA16-471B-00C2-8DF5648BD1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620" y="979661"/>
            <a:ext cx="11197672" cy="5331491"/>
          </a:xfrm>
          <a:prstGeom prst="rect">
            <a:avLst/>
          </a:prstGeom>
        </p:spPr>
        <p:txBody>
          <a:bodyPr>
            <a:noAutofit/>
          </a:bodyPr>
          <a:lstStyle>
            <a:lvl1pPr marL="363538" indent="-363538" algn="just">
              <a:spcBef>
                <a:spcPts val="1800"/>
              </a:spcBef>
              <a:buSzPct val="100000"/>
              <a:buFont typeface="+mj-lt"/>
              <a:buAutoNum type="arabicPeriod"/>
              <a:defRPr sz="2000">
                <a:solidFill>
                  <a:srgbClr val="002060"/>
                </a:solidFill>
              </a:defRPr>
            </a:lvl1pPr>
            <a:lvl2pPr marL="809625" indent="-352425" algn="just" defTabSz="404813">
              <a:spcBef>
                <a:spcPts val="600"/>
              </a:spcBef>
              <a:buSzPct val="100000"/>
              <a:buFont typeface="+mj-lt"/>
              <a:buAutoNum type="alphaLcParenR"/>
              <a:defRPr sz="1800">
                <a:solidFill>
                  <a:srgbClr val="002060"/>
                </a:solidFill>
              </a:defRPr>
            </a:lvl2pPr>
            <a:lvl3pPr marL="1160463" indent="-266700" algn="just">
              <a:spcBef>
                <a:spcPts val="600"/>
              </a:spcBef>
              <a:buSzPct val="100000"/>
              <a:buFont typeface="+mj-lt"/>
              <a:buAutoNum type="romanLcParenR"/>
              <a:tabLst>
                <a:tab pos="1160463" algn="l"/>
              </a:tabLst>
              <a:defRPr sz="1600">
                <a:solidFill>
                  <a:srgbClr val="002060"/>
                </a:solidFill>
              </a:defRPr>
            </a:lvl3pPr>
            <a:lvl4pPr algn="just">
              <a:spcBef>
                <a:spcPts val="600"/>
              </a:spcBef>
              <a:defRPr sz="1600">
                <a:solidFill>
                  <a:srgbClr val="002060"/>
                </a:solidFill>
              </a:defRPr>
            </a:lvl4pPr>
            <a:lvl5pPr marL="205740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[Default: Dark blue Arial 20 font, 18 points line spacing]</a:t>
            </a:r>
          </a:p>
          <a:p>
            <a:pPr lvl="1"/>
            <a:r>
              <a:rPr lang="en-US" dirty="0"/>
              <a:t>Second level [ Default : 2 font size smaller, 6 points line spacing] </a:t>
            </a:r>
          </a:p>
          <a:p>
            <a:pPr lvl="2"/>
            <a:r>
              <a:rPr lang="en-US" dirty="0"/>
              <a:t>Third level [ Default : 2 font size smaller, 6 points line spacing] 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0265885-9716-05EF-03C7-3EF2C64B66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56694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284CF13-45C1-2328-12A4-BA27CAE5C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19381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wide content slide (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DB216-632A-636B-5379-F4326BD04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200" y="-1988"/>
            <a:ext cx="12190496" cy="686197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B130D54-8DDE-4C8A-849B-7AE044A3E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1" y="226815"/>
            <a:ext cx="12001499" cy="6524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3000" b="1">
                <a:solidFill>
                  <a:srgbClr val="00205B"/>
                </a:solidFill>
              </a:defRPr>
            </a:lvl1pPr>
          </a:lstStyle>
          <a:p>
            <a:r>
              <a:rPr lang="en-US" dirty="0"/>
              <a:t>Slide Title</a:t>
            </a:r>
            <a:r>
              <a:rPr lang="en-SG" dirty="0"/>
              <a:t> in Arial Bold, Default Size 30 (Chevron) 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BDBB8B-CE93-38A1-CACF-C5F20B20F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875" y="967938"/>
            <a:ext cx="11265693" cy="5334249"/>
          </a:xfrm>
          <a:prstGeom prst="rect">
            <a:avLst/>
          </a:prstGeom>
        </p:spPr>
        <p:txBody>
          <a:bodyPr>
            <a:noAutofit/>
          </a:bodyPr>
          <a:lstStyle>
            <a:lvl1pPr marL="446088" indent="-446088" algn="just">
              <a:spcBef>
                <a:spcPts val="1800"/>
              </a:spcBef>
              <a:buSzPct val="100000"/>
              <a:buFontTx/>
              <a:buBlip>
                <a:blip r:embed="rId3"/>
              </a:buBlip>
              <a:defRPr sz="2000">
                <a:solidFill>
                  <a:srgbClr val="00205B"/>
                </a:solidFill>
              </a:defRPr>
            </a:lvl1pPr>
            <a:lvl2pPr marL="809625" indent="-285750" algn="just">
              <a:spcBef>
                <a:spcPts val="600"/>
              </a:spcBef>
              <a:buSzPct val="120000"/>
              <a:buFont typeface="Arial" panose="020B0604020202020204" pitchFamily="34" charset="0"/>
              <a:buChar char="•"/>
              <a:tabLst>
                <a:tab pos="1077913" algn="l"/>
              </a:tabLst>
              <a:defRPr sz="1800">
                <a:solidFill>
                  <a:srgbClr val="00205B"/>
                </a:solidFill>
              </a:defRPr>
            </a:lvl2pPr>
            <a:lvl3pPr marL="1160463" indent="-228600" algn="just">
              <a:spcBef>
                <a:spcPts val="600"/>
              </a:spcBef>
              <a:buSzPct val="100000"/>
              <a:buFont typeface="Arial" panose="020B0604020202020204" pitchFamily="34" charset="0"/>
              <a:buChar char="–"/>
              <a:defRPr sz="1600">
                <a:solidFill>
                  <a:srgbClr val="00205B"/>
                </a:solidFill>
              </a:defRPr>
            </a:lvl3pPr>
            <a:lvl4pPr marL="1430338" indent="-173038" algn="just"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solidFill>
                  <a:srgbClr val="00205B"/>
                </a:solidFill>
              </a:defRPr>
            </a:lvl4pPr>
            <a:lvl5pPr marL="1619250" indent="-22860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rgbClr val="00205B"/>
                </a:solidFill>
              </a:defRPr>
            </a:lvl5pPr>
          </a:lstStyle>
          <a:p>
            <a:pPr lvl="0"/>
            <a:r>
              <a:rPr lang="en-US" dirty="0"/>
              <a:t>First level text styles [Default : Dark Blue Arial 20,18 points line spacing]</a:t>
            </a:r>
          </a:p>
          <a:p>
            <a:pPr lvl="1"/>
            <a:r>
              <a:rPr lang="en-US" dirty="0"/>
              <a:t>Second level [Default : 2 font size smaller, 6 points line spacing]</a:t>
            </a:r>
          </a:p>
          <a:p>
            <a:pPr lvl="2"/>
            <a:r>
              <a:rPr lang="en-US" dirty="0"/>
              <a:t>Third level [Default : 2 font size smaller, 6 points line spacing] </a:t>
            </a:r>
          </a:p>
          <a:p>
            <a:pPr lvl="3"/>
            <a:r>
              <a:rPr lang="en-US" dirty="0"/>
              <a:t>Fourth level [ Default : 2 font size smaller, 6 points line spacing] 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C5778A4-AD9E-4317-7FFE-36676B5254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0" y="6556694"/>
            <a:ext cx="12192000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665DD20-F712-ECA7-FA43-06D1849E74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01362" y="6519381"/>
            <a:ext cx="887934" cy="280004"/>
          </a:xfrm>
        </p:spPr>
        <p:txBody>
          <a:bodyPr/>
          <a:lstStyle>
            <a:lvl1pPr algn="ctr">
              <a:defRPr sz="1000"/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99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CF5A82-2977-47EE-A71B-60EF59019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4" y="0"/>
            <a:ext cx="12200031" cy="686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67DC37-6EEC-4845-B04B-9FFCA135F3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043" y="319802"/>
            <a:ext cx="2699794" cy="995192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F054BE22-2F42-4854-85F1-CFE2541A17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26673" y="6353151"/>
            <a:ext cx="1910441" cy="504459"/>
          </a:xfrm>
        </p:spPr>
        <p:txBody>
          <a:bodyPr/>
          <a:lstStyle>
            <a:lvl1pPr algn="ctr">
              <a:defRPr sz="1100" b="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>
          <a:xfrm>
            <a:off x="1126673" y="2848541"/>
            <a:ext cx="11062622" cy="1160918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kern="0" dirty="0"/>
              <a:t>End Note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735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84" y="0"/>
            <a:ext cx="12199937" cy="6867796"/>
          </a:xfrm>
          <a:prstGeom prst="rect">
            <a:avLst/>
          </a:prstGeom>
        </p:spPr>
      </p:pic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>
          <a:xfrm>
            <a:off x="1110343" y="2848541"/>
            <a:ext cx="11078952" cy="1160918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rgbClr val="00205B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kern="0" dirty="0"/>
              <a:t>Alternate End Note</a:t>
            </a:r>
            <a:endParaRPr lang="en-SG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978568" y="356869"/>
            <a:ext cx="2699794" cy="902008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83171966-B20C-8584-8B61-C39535A2D6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19188" y="6580140"/>
            <a:ext cx="11072812" cy="270240"/>
          </a:xfrm>
        </p:spPr>
        <p:txBody>
          <a:bodyPr/>
          <a:lstStyle>
            <a:lvl1pPr algn="ctr">
              <a:defRPr sz="900"/>
            </a:lvl1pPr>
          </a:lstStyle>
          <a:p>
            <a:r>
              <a:rPr lang="en-US" dirty="0"/>
              <a:t>Restricted / Non-Sensitive</a:t>
            </a:r>
          </a:p>
        </p:txBody>
      </p:sp>
    </p:spTree>
    <p:extLst>
      <p:ext uri="{BB962C8B-B14F-4D97-AF65-F5344CB8AC3E}">
        <p14:creationId xmlns:p14="http://schemas.microsoft.com/office/powerpoint/2010/main" val="1989933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292" y="7800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79616"/>
            <a:ext cx="12191999" cy="2674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7375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Restricted / Non-Sensitive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4796" y="6579616"/>
            <a:ext cx="857203" cy="256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17375E"/>
                </a:solidFill>
                <a:latin typeface="Arial"/>
                <a:cs typeface="Arial"/>
              </a:defRPr>
            </a:lvl1pPr>
          </a:lstStyle>
          <a:p>
            <a:fld id="{8C81137B-80AB-E148-8403-8E4221D909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3EBD3-3ECF-E72D-3E42-AB04A2F2A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1292" y="1724642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4509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8" r:id="rId3"/>
    <p:sldLayoutId id="2147483650" r:id="rId4"/>
    <p:sldLayoutId id="2147483663" r:id="rId5"/>
    <p:sldLayoutId id="2147483652" r:id="rId6"/>
    <p:sldLayoutId id="2147483683" r:id="rId7"/>
    <p:sldLayoutId id="2147483681" r:id="rId8"/>
    <p:sldLayoutId id="2147483680" r:id="rId9"/>
    <p:sldLayoutId id="2147483682" r:id="rId10"/>
    <p:sldLayoutId id="2147483684" r:id="rId11"/>
    <p:sldLayoutId id="2147483658" r:id="rId1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000" b="1" kern="1200">
          <a:solidFill>
            <a:srgbClr val="00206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30000"/>
        <a:buFont typeface="Arial"/>
        <a:buChar char="•"/>
        <a:defRPr sz="2200" kern="1200">
          <a:solidFill>
            <a:srgbClr val="002060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ts val="600"/>
        </a:spcBef>
        <a:buSzPct val="100000"/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ts val="600"/>
        </a:spcBef>
        <a:buFont typeface="Arial" panose="020B0604020202020204" pitchFamily="34" charset="0"/>
        <a:buChar char="–"/>
        <a:defRPr sz="1800" kern="1200">
          <a:solidFill>
            <a:srgbClr val="002060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rgbClr val="002060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2060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OpsTracker</a:t>
            </a:r>
          </a:p>
          <a:p>
            <a:pPr algn="ctr">
              <a:spcBef>
                <a:spcPts val="800"/>
              </a:spcBef>
            </a:pPr>
            <a:r>
              <a:rPr sz="2000">
                <a:solidFill>
                  <a:srgbClr val="FFFFFF"/>
                </a:solidFill>
                <a:latin typeface="Arial"/>
              </a:rPr>
              <a:t>Digital Attendance Management for SPF NS Reservists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17 August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For Approval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Arial"/>
              </a:rPr>
              <a:t>Ops Security, Ops Branch</a:t>
            </a:r>
          </a:p>
          <a:p>
            <a:r>
              <a:rPr>
                <a:latin typeface="Arial"/>
              </a:rPr>
              <a:t>NSPI Sun Jin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0515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01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The Problem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02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Before vs After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03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Introducing OpsTracker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04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Features and Capabilities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05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Data Security and Privacy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06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PDPA Compliance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07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App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0515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08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Expected Benefits and Impact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09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Cost and Value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10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Challenges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11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Deployment Timeline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12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Handover Plan</a:t>
            </a:r>
          </a:p>
          <a:p>
            <a:pPr algn="l">
              <a:spcBef>
                <a:spcPts val="1400"/>
              </a:spcBef>
            </a:pPr>
            <a:r>
              <a:rPr sz="2200" b="1" i="0">
                <a:solidFill>
                  <a:srgbClr val="4F81BD"/>
                </a:solidFill>
                <a:latin typeface="Arial"/>
              </a:rPr>
              <a:t>13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Future Plans and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Attendance based on trust alone - no system verification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No way to confirm physical presence at reporting location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Commanders have no real-time view of who has reported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Leave and MC handled informally via chat with no record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No consolidated attendance history exists for the unit</a:t>
            </a:r>
          </a:p>
          <a:p>
            <a:pPr>
              <a:spcBef>
                <a:spcPts val="18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Chronic absences go undetected until too late to 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051560"/>
          <a:ext cx="993952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794760"/>
                <a:gridCol w="4133087"/>
              </a:tblGrid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OpsTracker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Attendance Check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1F1F"/>
                          </a:solidFill>
                          <a:latin typeface="Arial"/>
                        </a:rPr>
                        <a:t>Verbal, trust-based; no verification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4E1F"/>
                          </a:solidFill>
                          <a:latin typeface="Arial"/>
                        </a:rPr>
                        <a:t>GPS-verified check-in via mobile browser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Supervisor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1F1F"/>
                          </a:solidFill>
                          <a:latin typeface="Arial"/>
                        </a:rPr>
                        <a:t>Must be on site to know who showed up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4E1F"/>
                          </a:solidFill>
                          <a:latin typeface="Arial"/>
                        </a:rPr>
                        <a:t>Live dashboard updated in real time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Leave and MC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1F1F"/>
                          </a:solidFill>
                          <a:latin typeface="Arial"/>
                        </a:rPr>
                        <a:t>WhatsApp or verbal; no formal record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4E1F"/>
                          </a:solidFill>
                          <a:latin typeface="Arial"/>
                        </a:rPr>
                        <a:t>Digital submission with full approval history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Record Keeping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1F1F"/>
                          </a:solidFill>
                          <a:latin typeface="Arial"/>
                        </a:rPr>
                        <a:t>Relies on memory and scattered chat logs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4E1F"/>
                          </a:solidFill>
                          <a:latin typeface="Arial"/>
                        </a:rPr>
                        <a:t>Permanent digital log with one-click export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205B"/>
                          </a:solidFill>
                          <a:latin typeface="Arial"/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F1F1F"/>
                          </a:solidFill>
                          <a:latin typeface="Arial"/>
                        </a:rPr>
                        <a:t>No mechanism to flag repeated no-shows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4E1F"/>
                          </a:solidFill>
                          <a:latin typeface="Arial"/>
                        </a:rPr>
                        <a:t>Auto-absent marking and trend tracking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OpsTracker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051560"/>
            <a:ext cx="9939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00205B"/>
                </a:solidFill>
                <a:latin typeface="Arial"/>
              </a:rPr>
              <a:t>Mobile-first Progressive Web App replacing verbal check-ins with GPS-verified digital attendance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536192"/>
            <a:ext cx="3221735" cy="402336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Progressive Web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6528" y="1536192"/>
            <a:ext cx="3221735" cy="40233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Supabase + Realtime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5423" y="1536192"/>
            <a:ext cx="3221735" cy="402336"/>
          </a:xfrm>
          <a:prstGeom prst="rect">
            <a:avLst/>
          </a:prstGeom>
          <a:solidFill>
            <a:srgbClr val="26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GPS Shift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048256"/>
            <a:ext cx="9939528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4F81BD"/>
                </a:solidFill>
                <a:latin typeface="Arial"/>
              </a:rPr>
              <a:t>Mobile-First  </a:t>
            </a:r>
            <a:r>
              <a:rPr sz="1500">
                <a:solidFill>
                  <a:srgbClr val="00205B"/>
                </a:solidFill>
                <a:latin typeface="Arial"/>
              </a:rPr>
              <a:t>Works on iOS, Android, or desktop. No app store download required.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4F81BD"/>
                </a:solidFill>
                <a:latin typeface="Arial"/>
              </a:rPr>
              <a:t>GPS Check-In  </a:t>
            </a:r>
            <a:r>
              <a:rPr sz="1500">
                <a:solidFill>
                  <a:srgbClr val="00205B"/>
                </a:solidFill>
                <a:latin typeface="Arial"/>
              </a:rPr>
              <a:t>Confirms device location before recording. Supports AM, PM, and Full Day shifts.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4F81BD"/>
                </a:solidFill>
                <a:latin typeface="Arial"/>
              </a:rPr>
              <a:t>Real-Time Dashboard  </a:t>
            </a:r>
            <a:r>
              <a:rPr sz="1500">
                <a:solidFill>
                  <a:srgbClr val="00205B"/>
                </a:solidFill>
                <a:latin typeface="Arial"/>
              </a:rPr>
              <a:t>Live view of present, absent, and MC status as check-ins happen.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4F81BD"/>
                </a:solidFill>
                <a:latin typeface="Arial"/>
              </a:rPr>
              <a:t>Better Tracking  </a:t>
            </a:r>
            <a:r>
              <a:rPr sz="1500">
                <a:solidFill>
                  <a:srgbClr val="00205B"/>
                </a:solidFill>
                <a:latin typeface="Arial"/>
              </a:rPr>
              <a:t>Full attendance history and trends for any reservist or cycle.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4F81BD"/>
                </a:solidFill>
                <a:latin typeface="Arial"/>
              </a:rPr>
              <a:t>Automated Reporting  </a:t>
            </a:r>
            <a:r>
              <a:rPr sz="1500">
                <a:solidFill>
                  <a:srgbClr val="00205B"/>
                </a:solidFill>
                <a:latin typeface="Arial"/>
              </a:rPr>
              <a:t>One-click export to Excel or a print-ready cycle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4F81BD"/>
                </a:solidFill>
                <a:latin typeface="Arial"/>
              </a:rPr>
              <a:t>Step 1  Register  </a:t>
            </a:r>
            <a:r>
              <a:rPr sz="1700">
                <a:solidFill>
                  <a:srgbClr val="00205B"/>
                </a:solidFill>
                <a:latin typeface="Arial"/>
              </a:rPr>
              <a:t>Submit online form; admin activates your account.</a:t>
            </a:r>
          </a:p>
          <a:p>
            <a:pPr>
              <a:spcBef>
                <a:spcPts val="2400"/>
              </a:spcBef>
            </a:pPr>
            <a:r>
              <a:rPr sz="1700" b="1">
                <a:solidFill>
                  <a:srgbClr val="4F81BD"/>
                </a:solidFill>
                <a:latin typeface="Arial"/>
              </a:rPr>
              <a:t>Step 2  Check In  </a:t>
            </a:r>
            <a:r>
              <a:rPr sz="1700">
                <a:solidFill>
                  <a:srgbClr val="00205B"/>
                </a:solidFill>
                <a:latin typeface="Arial"/>
              </a:rPr>
              <a:t>Open app in reporting window; GPS confirms; one tap records attendance.</a:t>
            </a:r>
          </a:p>
          <a:p>
            <a:pPr>
              <a:spcBef>
                <a:spcPts val="2400"/>
              </a:spcBef>
            </a:pPr>
            <a:r>
              <a:rPr sz="1700" b="1">
                <a:solidFill>
                  <a:srgbClr val="4F81BD"/>
                </a:solidFill>
                <a:latin typeface="Arial"/>
              </a:rPr>
              <a:t>Step 3  Leave / MC  </a:t>
            </a:r>
            <a:r>
              <a:rPr sz="1700">
                <a:solidFill>
                  <a:srgbClr val="00205B"/>
                </a:solidFill>
                <a:latin typeface="Arial"/>
              </a:rPr>
              <a:t>Submit request digitally; receive approval or rejection in-app.</a:t>
            </a:r>
          </a:p>
          <a:p>
            <a:pPr>
              <a:spcBef>
                <a:spcPts val="2400"/>
              </a:spcBef>
            </a:pPr>
            <a:r>
              <a:rPr sz="1700" b="1">
                <a:solidFill>
                  <a:srgbClr val="4F81BD"/>
                </a:solidFill>
                <a:latin typeface="Arial"/>
              </a:rPr>
              <a:t>Step 4  View History  </a:t>
            </a:r>
            <a:r>
              <a:rPr sz="1700">
                <a:solidFill>
                  <a:srgbClr val="00205B"/>
                </a:solidFill>
                <a:latin typeface="Arial"/>
              </a:rPr>
              <a:t>Access personal attendance records and leave outcomes anytime.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Reservist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5897880"/>
            <a:ext cx="9939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Reservists can install OpsTracker to their home screen as a PWA. No app store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and Supervisor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08760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Live dashboard: present, absent, and MC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Manual attendance override with audit log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Mark all present or set no-report days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Auto-absent marking after check-in window closes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3493008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493008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Leave and 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3950207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Approve or reject requests individually or in bulk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Cancel approved leave if plans change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Full leave history per reservist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MC upload tracked separately from standard leave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8836" y="1051560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88836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6" y="1508760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Add, deactivate, or reassign reservists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CSV bulk upload and password resets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Welfare notes and member activity log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Assign reservists to batches and companies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8836" y="3493008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88836" y="3493008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3950207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Export cycle report to Excel or print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WhatsApp broadcast to the full unit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Cycle picker and multi-day date range view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Attendance trend snapshot per exercise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5897880"/>
            <a:ext cx="9939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Super Admins can also manage admin accounts, create cycles, and define GPS reporting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Security and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08760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Three-tier roles: Reservist, Admin, Super Admin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Each role restricted to authorised data only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Super Admin approval required for account changes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All actions tied to authenticated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3721608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721608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Session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4178808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Automatic logout after a period of inactivity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Secure auth tokens managed by Supabase Auth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personal data stored on the device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Login required on every new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8836" y="1051560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88836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6" y="1508760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PostgreSQL: encrypted at rest and in transit (TLS)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Row-level security enforced at database layer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third-party data sharing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ISO 27001 certified; SOC 2 Type II compliant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8836" y="3721608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88836" y="3721608"/>
            <a:ext cx="4878324" cy="365760"/>
          </a:xfrm>
          <a:prstGeom prst="rect">
            <a:avLst/>
          </a:prstGeom>
          <a:solidFill>
            <a:srgbClr val="26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4178808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Every edit logged with timestamp and user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Leave decisions and admin actions recorded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Full history available for compliance review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Immutable log - edits cannot be silently deleted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5897880"/>
            <a:ext cx="9939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Hosted externally on Supabase - comparable in approach to Google Forms, with stronger security controls. No SPF infrastructure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PDPA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051560"/>
            <a:ext cx="99395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00205B"/>
                </a:solidFill>
                <a:latin typeface="Arial"/>
              </a:rPr>
              <a:t>Designed to align with the Personal Data Protection Act 2012 (PDPA) and government data governance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600200"/>
            <a:ext cx="4878324" cy="2221992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27632" y="160020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 Collected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2057400"/>
            <a:ext cx="469544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Name and contact number (at registration)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GPS location (at check-in only)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Attendance and leave records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NRIC or financial data collected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3977639"/>
            <a:ext cx="4878324" cy="2221992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7632" y="3977639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Individual Rights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4434840"/>
            <a:ext cx="469544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Reservists may request their own records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Corrections made by authorised admin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Data deleted after NS liability ends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Requests handled within a reasonable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88836" y="1600200"/>
            <a:ext cx="4878324" cy="2221992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88836" y="160020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Key Obligations 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6" y="2057400"/>
            <a:ext cx="469544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Consent obtained at sign-up before data collected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Purpose limited to attendance management only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Only necessary data collected (data minimisation)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Encryption, access control, row-level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8836" y="3977639"/>
            <a:ext cx="4878324" cy="2221992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88836" y="3977639"/>
            <a:ext cx="4878324" cy="36576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Recommended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0276" y="4434840"/>
            <a:ext cx="469544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Seek Data Protection Officer guidance before deployment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Define data retention period per SPF policy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Include a privacy notice at reservist sign-up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Document the lawful basis for data collection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005839"/>
            <a:ext cx="9939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[ Replace the boxes below with actual screenshots before presenting ]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527048"/>
            <a:ext cx="4869179" cy="2377440"/>
          </a:xfrm>
          <a:prstGeom prst="rect">
            <a:avLst/>
          </a:prstGeom>
          <a:solidFill>
            <a:srgbClr val="D4E1F2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205B"/>
                </a:solidFill>
                <a:latin typeface="Arial"/>
              </a:rPr>
              <a:t>[Reservist: Check-In Screen]</a:t>
            </a:r>
          </a:p>
          <a:p>
            <a:pPr algn="ctr">
              <a:spcBef>
                <a:spcPts val="600"/>
              </a:spcBef>
            </a:pPr>
            <a:r>
              <a:rPr sz="1000" i="1">
                <a:solidFill>
                  <a:srgbClr val="4F81BD"/>
                </a:solidFill>
                <a:latin typeface="Arial"/>
              </a:rPr>
              <a:t>GPS verification and shift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97979" y="1527048"/>
            <a:ext cx="4869179" cy="2377440"/>
          </a:xfrm>
          <a:prstGeom prst="rect">
            <a:avLst/>
          </a:prstGeom>
          <a:solidFill>
            <a:srgbClr val="D4E1F2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205B"/>
                </a:solidFill>
                <a:latin typeface="Arial"/>
              </a:rPr>
              <a:t>[Admin: Attendance Dashboard]</a:t>
            </a:r>
          </a:p>
          <a:p>
            <a:pPr algn="ctr">
              <a:spcBef>
                <a:spcPts val="600"/>
              </a:spcBef>
            </a:pPr>
            <a:r>
              <a:rPr sz="1000" i="1">
                <a:solidFill>
                  <a:srgbClr val="4F81BD"/>
                </a:solidFill>
                <a:latin typeface="Arial"/>
              </a:rPr>
              <a:t>Live present, absent, and MC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4069079"/>
            <a:ext cx="4869179" cy="2377440"/>
          </a:xfrm>
          <a:prstGeom prst="rect">
            <a:avLst/>
          </a:prstGeom>
          <a:solidFill>
            <a:srgbClr val="D4E1F2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205B"/>
                </a:solidFill>
                <a:latin typeface="Arial"/>
              </a:rPr>
              <a:t>[Leave / MC Request Form]</a:t>
            </a:r>
          </a:p>
          <a:p>
            <a:pPr algn="ctr">
              <a:spcBef>
                <a:spcPts val="600"/>
              </a:spcBef>
            </a:pPr>
            <a:r>
              <a:rPr sz="1000" i="1">
                <a:solidFill>
                  <a:srgbClr val="4F81BD"/>
                </a:solidFill>
                <a:latin typeface="Arial"/>
              </a:rPr>
              <a:t>Digital submission and approval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697979" y="4069079"/>
            <a:ext cx="4869179" cy="2377440"/>
          </a:xfrm>
          <a:prstGeom prst="rect">
            <a:avLst/>
          </a:prstGeom>
          <a:solidFill>
            <a:srgbClr val="D4E1F2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205B"/>
                </a:solidFill>
                <a:latin typeface="Arial"/>
              </a:rPr>
              <a:t>[Attendance Export Report]</a:t>
            </a:r>
          </a:p>
          <a:p>
            <a:pPr algn="ctr">
              <a:spcBef>
                <a:spcPts val="600"/>
              </a:spcBef>
            </a:pPr>
            <a:r>
              <a:rPr sz="1000" i="1">
                <a:solidFill>
                  <a:srgbClr val="4F81BD"/>
                </a:solidFill>
                <a:latin typeface="Arial"/>
              </a:rPr>
              <a:t>Excel and print-ready cycle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Bef>
                <a:spcPts val="14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Real-time presence visibility without being on site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GPS verification prevents false reporting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Full attendance history and trends for any cycle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Early identification of absent-prone reservists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Digital leave and MC handling end-to-end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Permanent records replace memory and chat logs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00205B"/>
                </a:solidFill>
                <a:latin typeface="Arial"/>
              </a:rPr>
              <a:t>•  Reduced admin workload across all exercise cycles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 and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and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4878324" cy="365760"/>
          </a:xfrm>
          <a:prstGeom prst="rect">
            <a:avLst/>
          </a:prstGeom>
          <a:solidFill>
            <a:srgbClr val="26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OpsTracker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08760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Development: SGD 0 (built in-house)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Hosting: SGD 0 (Netlify or GitHub Pages)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Database: SGD 0 (Supabase free tier)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Custom domain: ~SGD 15/year (optional)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3721608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721608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Scale for This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4178808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At 5-7 reservists per week, under 1,000 records generated per year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Free tier (50,000 rows) supports decades of operation at this scale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Paid upgrade (SGD 25/month) unlikely to ever be needed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Zero cost escalation risk for the foreseeable 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8836" y="1051560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88836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Commercial Equivalent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6" y="1508760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Off-the-shelf HR SaaS: SGD 5-15 per user per month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100 users: up to SGD 18,000 per year in licensing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commercial tool is built for NS exercise workflows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OpsTracker: purpose-built at zero licensing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8836" y="3721608"/>
            <a:ext cx="4878324" cy="25328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88836" y="3721608"/>
            <a:ext cx="4878324" cy="36576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Additional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4178808"/>
            <a:ext cx="469544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Source code fully owned by the unit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Purpose-built for SPF NS shift and leave workflows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developer knowledge needed to operate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Fully transferable to successor with zero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52120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08760"/>
            <a:ext cx="4695444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GPS accuracy varies in covered or indoor environments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In-app browsers restrict some PWA features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Service worker versioning needed for reliable updates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Realtime reconnection handling on unstable connections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8836" y="1051560"/>
            <a:ext cx="4878324" cy="521208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88836" y="1051560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6" y="1508760"/>
            <a:ext cx="4695444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Shifting habits from verbal to app-based check-in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Admin training required for full dashboard use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Offline sync validation during field exercises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00205B"/>
                </a:solidFill>
                <a:latin typeface="Arial"/>
              </a:rPr>
              <a:t>•  Cross-device QA across iOS and Android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27632" y="1051560"/>
          <a:ext cx="993952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6099048"/>
              </a:tblGrid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Approval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Aug 2026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Committee approval received; system configuration begins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Admin Setup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Sep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GPS boundaries set; first cycle created; admins 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Soft Launch</a:t>
                      </a:r>
                    </a:p>
                  </a:txBody>
                  <a:tcPr anchor="ctr">
                    <a:solidFill>
                      <a:srgbClr val="266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Oct 2026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Deploy for the next Ops Security reservist cycle; validate in real conditions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Full Rollout</a:t>
                      </a:r>
                    </a:p>
                  </a:txBody>
                  <a:tcPr anchor="ctr">
                    <a:solidFill>
                      <a:srgbClr val="266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Nov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All Ops Security reservists onboarded; live for all subsequent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Stabilise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Dec 2026 - Feb 2027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Full operations; feedback collected; refinements applied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Handover Prep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Mar - Apr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Docs finalised; successor designated and 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ORD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May 2027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205B"/>
                          </a:solidFill>
                          <a:latin typeface="Arial"/>
                        </a:rPr>
                        <a:t>Ownership transferred; NSPI Sun Jin ORDs</a:t>
                      </a:r>
                    </a:p>
                  </a:txBody>
                  <a:tcPr anchor="ctr">
                    <a:solidFill>
                      <a:srgbClr val="D4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Handover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Role-Based 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08760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No designated successor required in advance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Whoever takes on the NS coordination role inherits the system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Super Admin access transferred to incoming NSman or Regular Officer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Onboarding time: approximately half a day with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3493008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493008"/>
            <a:ext cx="4878324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Will Be Provided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3950207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Admin user manual for all day-to-day operations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SOP: cycle creation, onboarding, and report exports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Troubleshooting guide for common issues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Sun Jin contactable post-ORD for critical issues (best effort)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8836" y="1051560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88836" y="1051560"/>
            <a:ext cx="4878324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Gets Transferred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6" y="1508760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Supabase project ownership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Hosting account (Netlify or GitHub Pages)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Domain registrar credentials if applicable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Source code repository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8836" y="3493008"/>
            <a:ext cx="4878324" cy="2304288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88836" y="3493008"/>
            <a:ext cx="4878324" cy="365760"/>
          </a:xfrm>
          <a:prstGeom prst="rect">
            <a:avLst/>
          </a:prstGeom>
          <a:solidFill>
            <a:srgbClr val="26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Sustainability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3950207"/>
            <a:ext cx="469544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All admin functions in-app; no command line needed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Role-based access limits scope and risk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System updates require no technical knowledge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Free tier: no billing or renewal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5897880"/>
            <a:ext cx="9939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0" i="1">
                <a:solidFill>
                  <a:srgbClr val="4F81BD"/>
                </a:solidFill>
                <a:latin typeface="Arial"/>
              </a:rPr>
              <a:t>Designed so any incoming NSman stepping into the role can be fully operational within half a 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 and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1051560"/>
            <a:ext cx="3191256" cy="228600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27632" y="1051560"/>
            <a:ext cx="3191256" cy="36576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Near-Term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08760"/>
            <a:ext cx="300837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Push notifications for check-in windows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Automated WhatsApp attendance reminders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Multi-company support within one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1051560"/>
            <a:ext cx="3191256" cy="228600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01768" y="1051560"/>
            <a:ext cx="3191256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Mid-Term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7" y="1508760"/>
            <a:ext cx="300837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Attendance trend analytics and absence flags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Native mobile app for stronger offline support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Auto cycle reports submitted on close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75904" y="1051560"/>
            <a:ext cx="3191256" cy="2286000"/>
          </a:xfrm>
          <a:prstGeom prst="rect">
            <a:avLst/>
          </a:prstGeom>
          <a:solidFill>
            <a:srgbClr val="D4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75904" y="1051560"/>
            <a:ext cx="3191256" cy="365760"/>
          </a:xfrm>
          <a:prstGeom prst="rect">
            <a:avLst/>
          </a:prstGeom>
          <a:solidFill>
            <a:srgbClr val="26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Long-Term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1508760"/>
            <a:ext cx="300837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SPF HR or NS portal integration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Automated report submission to HQ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0205B"/>
                </a:solidFill>
                <a:latin typeface="Arial"/>
              </a:rPr>
              <a:t>•  Single sign-on with NS credentials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7632" y="3502152"/>
            <a:ext cx="9939528" cy="228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3611879"/>
            <a:ext cx="993952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00205B"/>
                </a:solidFill>
                <a:latin typeface="Arial"/>
              </a:rPr>
              <a:t>OpsTracker is fully built, tested, and ready for deployment. We seek your approval to proceed before the next exercise cycle.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Deploy OpsTracker at the start of the next Ops Security reservist cycle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Onboard all Ops Security reservists into the system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00205B"/>
                </a:solidFill>
                <a:latin typeface="Arial"/>
              </a:rPr>
              <a:t>•  Initiate IT security review for official and broader deployment</a:t>
            </a:r>
          </a:p>
          <a:p>
            <a:pPr algn="l">
              <a:spcBef>
                <a:spcPts val="1200"/>
              </a:spcBef>
            </a:pPr>
            <a:r>
              <a:rPr sz="1500" b="1" i="0">
                <a:solidFill>
                  <a:srgbClr val="00205B"/>
                </a:solidFill>
                <a:latin typeface="Arial"/>
              </a:rPr>
              <a:t>Running cost: zero to minimal. With your approval, onboarding can begin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ice Powerpoint Presentation Template (12 Aug 2024)  -  Read-Only" id="{676E9AEE-973E-48E2-A699-3846E43F4EE9}" vid="{3CCE130D-0E26-4EF3-8A01-58128E2EBF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b22ebf2f-64d7-4bd5-a8c0-7ea1a061f64e" origin="userSelected">
  <element uid="00e748fc-2738-46e7-a760-20195d3344d7" value=""/>
</sisl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3CCB1D34CA640B33D3DF480713A93" ma:contentTypeVersion="0" ma:contentTypeDescription="Create a new document." ma:contentTypeScope="" ma:versionID="5d113371de4aff75ac499771f3590ae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53f2d8843fd2aa64b81f9e8c63a661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1D0FD7-016A-4F44-96D4-EBF0A26D3298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5741CC6E-3804-4127-A215-9061361B1C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45C6B01-3972-491C-B97E-B4E08FFC0A2D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CDC202C0-019D-4B8B-A4EB-DC5DF4888E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ppt_template_wide_screen_290824 (1)</Template>
  <TotalTime>22791</TotalTime>
  <Words>65</Words>
  <Application>Microsoft Office PowerPoint</Application>
  <PresentationFormat>Widescreen</PresentationFormat>
  <Paragraphs>32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Wingdings</vt:lpstr>
      <vt:lpstr>Template</vt:lpstr>
      <vt:lpstr>PowerPoint Presentation</vt:lpstr>
      <vt:lpstr>Overview</vt:lpstr>
      <vt:lpstr>Problem Statement</vt:lpstr>
      <vt:lpstr>Proposed Solution: OpsTracker</vt:lpstr>
      <vt:lpstr>Current Progress</vt:lpstr>
      <vt:lpstr>Conclusion</vt:lpstr>
    </vt:vector>
  </TitlesOfParts>
  <Manager>SPF-PAD-WDU@spf.gov.sg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 Jin GOH (SPF)</dc:creator>
  <cp:lastModifiedBy>Sun-Jin Goh</cp:lastModifiedBy>
  <cp:revision>440</cp:revision>
  <dcterms:created xsi:type="dcterms:W3CDTF">2025-11-17T01:33:19Z</dcterms:created>
  <dcterms:modified xsi:type="dcterms:W3CDTF">2026-07-29T07:27:58Z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158a2e11-761b-4b75-999d-03f9eb54f8c9</vt:lpwstr>
  </property>
  <property fmtid="{D5CDD505-2E9C-101B-9397-08002B2CF9AE}" pid="3" name="MSIP_Label_54803508-8490-4252-b331-d9b72689e942_Enabled">
    <vt:lpwstr>true</vt:lpwstr>
  </property>
  <property fmtid="{D5CDD505-2E9C-101B-9397-08002B2CF9AE}" pid="4" name="MSIP_Label_54803508-8490-4252-b331-d9b72689e942_SetDate">
    <vt:lpwstr>2022-08-26T09:10:34Z</vt:lpwstr>
  </property>
  <property fmtid="{D5CDD505-2E9C-101B-9397-08002B2CF9AE}" pid="5" name="MSIP_Label_54803508-8490-4252-b331-d9b72689e942_Method">
    <vt:lpwstr>Privileged</vt:lpwstr>
  </property>
  <property fmtid="{D5CDD505-2E9C-101B-9397-08002B2CF9AE}" pid="6" name="MSIP_Label_54803508-8490-4252-b331-d9b72689e942_Name">
    <vt:lpwstr>Non Sensitive_0</vt:lpwstr>
  </property>
  <property fmtid="{D5CDD505-2E9C-101B-9397-08002B2CF9AE}" pid="7" name="MSIP_Label_54803508-8490-4252-b331-d9b72689e942_SiteId">
    <vt:lpwstr>0b11c524-9a1c-4e1b-84cb-6336aefc2243</vt:lpwstr>
  </property>
  <property fmtid="{D5CDD505-2E9C-101B-9397-08002B2CF9AE}" pid="8" name="MSIP_Label_54803508-8490-4252-b331-d9b72689e942_ActionId">
    <vt:lpwstr>ba66af44-caba-4b54-940d-000b1779212c</vt:lpwstr>
  </property>
  <property fmtid="{D5CDD505-2E9C-101B-9397-08002B2CF9AE}" pid="9" name="MSIP_Label_54803508-8490-4252-b331-d9b72689e942_ContentBits">
    <vt:lpwstr>0</vt:lpwstr>
  </property>
  <property fmtid="{D5CDD505-2E9C-101B-9397-08002B2CF9AE}" pid="10" name="ContentTypeId">
    <vt:lpwstr>0x010100D923CCB1D34CA640B33D3DF480713A93</vt:lpwstr>
  </property>
</Properties>
</file>