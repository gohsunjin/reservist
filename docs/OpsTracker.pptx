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30"/>
  </p:notesMasterIdLst>
  <p:handoutMasterIdLst>
    <p:handoutMasterId r:id="rId31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407508-81B4-6EFC-F895-E826FE0FE1FC}" name="P&amp;O/Strategy" initials="P&amp;O/Strat" userId="P&amp;O/Strategy" providerId="None"/>
  <p188:author id="{AD7BD188-E525-85EC-A2C1-D9E0F2E0B165}" name="Melvin SEAH (SPF)" initials="MS" userId="S::Melvin_SEAH@spf.gov.sg::922f2373-2615-498f-8b25-c3f3c4108e0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7F9"/>
    <a:srgbClr val="C00000"/>
    <a:srgbClr val="263D73"/>
    <a:srgbClr val="00205B"/>
    <a:srgbClr val="9BBB59"/>
    <a:srgbClr val="4BACC6"/>
    <a:srgbClr val="92D050"/>
    <a:srgbClr val="FEFEFE"/>
    <a:srgbClr val="5C0000"/>
    <a:srgbClr val="0020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817" autoAdjust="0"/>
    <p:restoredTop sz="62745" autoAdjust="0"/>
  </p:normalViewPr>
  <p:slideViewPr>
    <p:cSldViewPr snapToGrid="0" snapToObjects="1">
      <p:cViewPr varScale="1">
        <p:scale>
          <a:sx n="85" d="100"/>
          <a:sy n="85" d="100"/>
        </p:scale>
        <p:origin x="139" y="62"/>
      </p:cViewPr>
      <p:guideLst/>
    </p:cSldViewPr>
  </p:slideViewPr>
  <p:outlineViewPr>
    <p:cViewPr>
      <p:scale>
        <a:sx n="33" d="100"/>
        <a:sy n="33" d="100"/>
      </p:scale>
      <p:origin x="0" y="-343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9" d="100"/>
          <a:sy n="59" d="100"/>
        </p:scale>
        <p:origin x="2928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CAC3C-B009-FA41-9B48-29A5200803A4}" type="datetimeFigureOut">
              <a:rPr lang="en-US" smtClean="0"/>
              <a:t>8/18/2026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4B44-6E28-B340-9E16-1750E552A29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31052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39CF-BB78-AF42-B848-C85C22DB22AC}" type="datetimeFigureOut">
              <a:rPr lang="en-US" smtClean="0"/>
              <a:t>8/18/2026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BDEA8-D6D0-1446-BC9A-CAD97D1E668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629711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4" y="0"/>
            <a:ext cx="12200031" cy="6867850"/>
          </a:xfrm>
          <a:prstGeom prst="rect">
            <a:avLst/>
          </a:prstGeom>
        </p:spPr>
      </p:pic>
      <p:sp>
        <p:nvSpPr>
          <p:cNvPr id="18" name="Title 16"/>
          <p:cNvSpPr>
            <a:spLocks noGrp="1"/>
          </p:cNvSpPr>
          <p:nvPr>
            <p:ph type="title" hasCustomPrompt="1"/>
          </p:nvPr>
        </p:nvSpPr>
        <p:spPr>
          <a:xfrm>
            <a:off x="1126672" y="2039815"/>
            <a:ext cx="11065328" cy="1358901"/>
          </a:xfrm>
        </p:spPr>
        <p:txBody>
          <a:bodyPr>
            <a:noAutofit/>
          </a:bodyPr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kern="0" dirty="0"/>
              <a:t>Title of Presentation</a:t>
            </a:r>
            <a:endParaRPr lang="en-SG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924664" y="4887198"/>
            <a:ext cx="3466638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rgbClr val="00205B"/>
                </a:solidFill>
              </a:defRPr>
            </a:lvl2pPr>
            <a:lvl3pPr marL="914400" indent="0">
              <a:buNone/>
              <a:defRPr sz="1200" b="1">
                <a:solidFill>
                  <a:srgbClr val="00205B"/>
                </a:solidFill>
              </a:defRPr>
            </a:lvl3pPr>
            <a:lvl4pPr marL="1371600" indent="0">
              <a:buNone/>
              <a:defRPr sz="1200" b="1">
                <a:solidFill>
                  <a:srgbClr val="00205B"/>
                </a:solidFill>
              </a:defRPr>
            </a:lvl4pPr>
            <a:lvl5pPr marL="1828800" indent="0">
              <a:buNone/>
              <a:defRPr sz="1200" b="1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SG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043" y="319802"/>
            <a:ext cx="2699794" cy="995192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527C60-A4BE-422D-8089-0E0DFD9242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6672" y="3564723"/>
            <a:ext cx="11062624" cy="50445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SG" dirty="0"/>
              <a:t>For Information / Update / etc.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F7329F19-1642-F343-C5E3-48AD8536F0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6672" y="4206199"/>
            <a:ext cx="11062623" cy="50445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SG" dirty="0"/>
              <a:t>Unit/Presenter 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432E0DE4-1E5D-974B-37EF-20EECF2707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26673" y="6353151"/>
            <a:ext cx="1910441" cy="504459"/>
          </a:xfrm>
        </p:spPr>
        <p:txBody>
          <a:bodyPr/>
          <a:lstStyle>
            <a:lvl1pPr algn="ctr">
              <a:defRPr sz="1100" b="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1031782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 preferRelativeResize="0"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989" y="0"/>
            <a:ext cx="12204000" cy="6858000"/>
          </a:xfrm>
          <a:prstGeom prst="rect">
            <a:avLst/>
          </a:prstGeom>
        </p:spPr>
      </p:pic>
      <p:sp>
        <p:nvSpPr>
          <p:cNvPr id="9" name="Title 16">
            <a:extLst>
              <a:ext uri="{FF2B5EF4-FFF2-40B4-BE49-F238E27FC236}">
                <a16:creationId xmlns:a16="http://schemas.microsoft.com/office/drawing/2014/main" id="{4E1708FC-6E89-43C0-BBAE-25B6B4F43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671" y="2848541"/>
            <a:ext cx="11062623" cy="1160918"/>
          </a:xfrm>
        </p:spPr>
        <p:txBody>
          <a:bodyPr>
            <a:noAutofit/>
          </a:bodyPr>
          <a:lstStyle>
            <a:lvl1pPr algn="ctr">
              <a:defRPr sz="3600" b="1">
                <a:solidFill>
                  <a:srgbClr val="00205B"/>
                </a:solidFill>
              </a:defRPr>
            </a:lvl1pPr>
          </a:lstStyle>
          <a:p>
            <a:r>
              <a:rPr lang="en-SG" dirty="0"/>
              <a:t>Sub-Section Title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34D9E21-9F91-40AF-91BE-CA9F710498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D4CBA1B9-E0EA-43B9-B645-15D7EDFF92A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26672" y="6580140"/>
            <a:ext cx="11065328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3632212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content slide (Numb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937" y="-1120"/>
            <a:ext cx="9139943" cy="6858000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DE75DC7-B66F-6378-425E-7BC6B09BDE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5436" y="1057071"/>
            <a:ext cx="9936000" cy="5305629"/>
          </a:xfrm>
          <a:prstGeom prst="rect">
            <a:avLst/>
          </a:prstGeom>
        </p:spPr>
        <p:txBody>
          <a:bodyPr>
            <a:noAutofit/>
          </a:bodyPr>
          <a:lstStyle>
            <a:lvl1pPr marL="363538" indent="-363538" algn="just">
              <a:spcBef>
                <a:spcPts val="1800"/>
              </a:spcBef>
              <a:buSzPct val="100000"/>
              <a:buFont typeface="+mj-lt"/>
              <a:buAutoNum type="arabicPeriod"/>
              <a:defRPr sz="2000">
                <a:solidFill>
                  <a:srgbClr val="002060"/>
                </a:solidFill>
              </a:defRPr>
            </a:lvl1pPr>
            <a:lvl2pPr marL="809625" indent="-352425" algn="just" defTabSz="404813">
              <a:spcBef>
                <a:spcPts val="600"/>
              </a:spcBef>
              <a:buSzPct val="100000"/>
              <a:buFont typeface="+mj-lt"/>
              <a:buAutoNum type="alphaLcParenR"/>
              <a:defRPr sz="1800">
                <a:solidFill>
                  <a:srgbClr val="002060"/>
                </a:solidFill>
              </a:defRPr>
            </a:lvl2pPr>
            <a:lvl3pPr marL="1160463" indent="-266700" algn="just">
              <a:spcBef>
                <a:spcPts val="600"/>
              </a:spcBef>
              <a:buSzPct val="100000"/>
              <a:buFont typeface="+mj-lt"/>
              <a:buAutoNum type="romanLcParenR"/>
              <a:tabLst>
                <a:tab pos="1160463" algn="l"/>
              </a:tabLst>
              <a:defRPr sz="1600">
                <a:solidFill>
                  <a:srgbClr val="002060"/>
                </a:solidFill>
              </a:defRPr>
            </a:lvl3pPr>
            <a:lvl4pPr algn="just">
              <a:spcBef>
                <a:spcPts val="600"/>
              </a:spcBef>
              <a:defRPr sz="1600">
                <a:solidFill>
                  <a:srgbClr val="002060"/>
                </a:solidFill>
              </a:defRPr>
            </a:lvl4pPr>
            <a:lvl5pPr marL="205740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[Default: Dark blue Arial 20 font, 18 points line spacing]</a:t>
            </a:r>
          </a:p>
          <a:p>
            <a:pPr lvl="1"/>
            <a:r>
              <a:rPr lang="en-US" dirty="0"/>
              <a:t>Second level [ Default : 2 font size smaller, 6 points line spacing] </a:t>
            </a:r>
          </a:p>
          <a:p>
            <a:pPr lvl="2"/>
            <a:r>
              <a:rPr lang="en-US" dirty="0"/>
              <a:t>Third level [ Default : 2 font size smaller, 6 points line spacing]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2B9077E-5E39-498A-A27B-67EF9307E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2042" y="248591"/>
            <a:ext cx="9936000" cy="58761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(Numbering)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6BEA835-694B-E3C7-994A-6E0F2896E5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0060DA8-E5D0-8642-B29D-7CA51A2346A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19188" y="6580140"/>
            <a:ext cx="11072812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3092182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1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content slide (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937" y="0"/>
            <a:ext cx="9139943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627108" y="1058400"/>
            <a:ext cx="9936000" cy="5304300"/>
          </a:xfrm>
          <a:prstGeom prst="rect">
            <a:avLst/>
          </a:prstGeom>
        </p:spPr>
        <p:txBody>
          <a:bodyPr>
            <a:noAutofit/>
          </a:bodyPr>
          <a:lstStyle>
            <a:lvl1pPr marL="446088" indent="-446088" algn="just">
              <a:spcBef>
                <a:spcPts val="1800"/>
              </a:spcBef>
              <a:buSzPct val="100000"/>
              <a:buFontTx/>
              <a:buBlip>
                <a:blip r:embed="rId3"/>
              </a:buBlip>
              <a:defRPr sz="2000">
                <a:solidFill>
                  <a:srgbClr val="00205B"/>
                </a:solidFill>
              </a:defRPr>
            </a:lvl1pPr>
            <a:lvl2pPr marL="809625" indent="-285750" algn="just">
              <a:spcBef>
                <a:spcPts val="600"/>
              </a:spcBef>
              <a:buSzPct val="120000"/>
              <a:buFont typeface="Arial" panose="020B0604020202020204" pitchFamily="34" charset="0"/>
              <a:buChar char="•"/>
              <a:tabLst>
                <a:tab pos="1077913" algn="l"/>
              </a:tabLst>
              <a:defRPr sz="1800">
                <a:solidFill>
                  <a:srgbClr val="00205B"/>
                </a:solidFill>
              </a:defRPr>
            </a:lvl2pPr>
            <a:lvl3pPr marL="1077913" indent="-228600" algn="just">
              <a:spcBef>
                <a:spcPts val="600"/>
              </a:spcBef>
              <a:buSzPct val="100000"/>
              <a:buFont typeface="Arial" panose="020B0604020202020204" pitchFamily="34" charset="0"/>
              <a:buChar char="–"/>
              <a:defRPr sz="1600">
                <a:solidFill>
                  <a:srgbClr val="00205B"/>
                </a:solidFill>
              </a:defRPr>
            </a:lvl3pPr>
            <a:lvl4pPr marL="1347788" indent="-173038" algn="just"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solidFill>
                  <a:srgbClr val="00205B"/>
                </a:solidFill>
              </a:defRPr>
            </a:lvl4pPr>
            <a:lvl5pPr marL="161925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 : Dark Blue Arial 20,18 points line spacing]</a:t>
            </a:r>
          </a:p>
          <a:p>
            <a:pPr lvl="1"/>
            <a:r>
              <a:rPr lang="en-US" dirty="0"/>
              <a:t>Second level [Default : 2 font size smaller, 6 points line spacing]</a:t>
            </a:r>
          </a:p>
          <a:p>
            <a:pPr lvl="2"/>
            <a:r>
              <a:rPr lang="en-US" dirty="0"/>
              <a:t>Third level [Default : 2 font size smaller, 6 points line spacing] </a:t>
            </a:r>
          </a:p>
          <a:p>
            <a:pPr lvl="3"/>
            <a:r>
              <a:rPr lang="en-US" dirty="0"/>
              <a:t>Fourth level [ Default : 2 font size smaller, 6 points line spacing]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700B58-3447-AAB2-2FD3-5EB9A054E2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2042" y="248591"/>
            <a:ext cx="9936000" cy="58761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(Chevron)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8296875-7205-4E24-9DFD-499A405E6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5FE7A1E7-3E5A-47AC-9BE4-B8957A5B05B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19188" y="6580140"/>
            <a:ext cx="11072812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2504254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1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ntent slide (Number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2057" y="0"/>
            <a:ext cx="9139943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3EB45E-4032-4898-AF92-9DCE3F926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950" y="252401"/>
            <a:ext cx="10792695" cy="58761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(Numbering) 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639D91A-F574-8453-D366-DEED46EEE0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7622" y="1057071"/>
            <a:ext cx="10039023" cy="5305629"/>
          </a:xfrm>
          <a:prstGeom prst="rect">
            <a:avLst/>
          </a:prstGeom>
        </p:spPr>
        <p:txBody>
          <a:bodyPr>
            <a:noAutofit/>
          </a:bodyPr>
          <a:lstStyle>
            <a:lvl1pPr marL="363538" indent="-363538" algn="just">
              <a:spcBef>
                <a:spcPts val="1800"/>
              </a:spcBef>
              <a:buSzPct val="100000"/>
              <a:buFont typeface="+mj-lt"/>
              <a:buAutoNum type="arabicPeriod"/>
              <a:defRPr sz="2000">
                <a:solidFill>
                  <a:srgbClr val="002060"/>
                </a:solidFill>
              </a:defRPr>
            </a:lvl1pPr>
            <a:lvl2pPr marL="809625" indent="-352425" algn="just" defTabSz="404813">
              <a:spcBef>
                <a:spcPts val="600"/>
              </a:spcBef>
              <a:buSzPct val="100000"/>
              <a:buFont typeface="+mj-lt"/>
              <a:buAutoNum type="alphaLcParenR"/>
              <a:defRPr sz="1800">
                <a:solidFill>
                  <a:srgbClr val="002060"/>
                </a:solidFill>
              </a:defRPr>
            </a:lvl2pPr>
            <a:lvl3pPr marL="1160463" indent="-266700" algn="just">
              <a:spcBef>
                <a:spcPts val="600"/>
              </a:spcBef>
              <a:buSzPct val="100000"/>
              <a:buFont typeface="+mj-lt"/>
              <a:buAutoNum type="romanLcParenR"/>
              <a:tabLst>
                <a:tab pos="1160463" algn="l"/>
              </a:tabLst>
              <a:defRPr sz="1600">
                <a:solidFill>
                  <a:srgbClr val="002060"/>
                </a:solidFill>
              </a:defRPr>
            </a:lvl3pPr>
            <a:lvl4pPr algn="just">
              <a:spcBef>
                <a:spcPts val="600"/>
              </a:spcBef>
              <a:defRPr sz="1600">
                <a:solidFill>
                  <a:srgbClr val="002060"/>
                </a:solidFill>
              </a:defRPr>
            </a:lvl4pPr>
            <a:lvl5pPr marL="205740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[Default: Dark blue Arial 20 font, 18 points line spacing]</a:t>
            </a:r>
          </a:p>
          <a:p>
            <a:pPr lvl="1"/>
            <a:r>
              <a:rPr lang="en-US" dirty="0"/>
              <a:t>Second level [ Default : 2 font size smaller, 6 points line spacing] </a:t>
            </a:r>
          </a:p>
          <a:p>
            <a:pPr lvl="2"/>
            <a:r>
              <a:rPr lang="en-US" dirty="0"/>
              <a:t>Third level [ Default : 2 font size smaller, 6 points line spacing]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7255B43-318E-54F8-83B0-37DD82DDDC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2260FC5E-1BE0-4844-BB03-EA4375CD847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-7495" y="6588551"/>
            <a:ext cx="10899613" cy="269449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2381055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ntent slide (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2057" y="0"/>
            <a:ext cx="9139943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B106BE1-21F7-05F1-7F77-6C6E93F9F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674" y="252401"/>
            <a:ext cx="10757526" cy="58761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(Chevron) 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704571D-9C0A-35A6-F85F-AC72977381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295" y="1058400"/>
            <a:ext cx="10072520" cy="5304300"/>
          </a:xfrm>
          <a:prstGeom prst="rect">
            <a:avLst/>
          </a:prstGeom>
        </p:spPr>
        <p:txBody>
          <a:bodyPr>
            <a:noAutofit/>
          </a:bodyPr>
          <a:lstStyle>
            <a:lvl1pPr marL="446088" indent="-446088" algn="just">
              <a:spcBef>
                <a:spcPts val="1800"/>
              </a:spcBef>
              <a:buSzPct val="100000"/>
              <a:buFontTx/>
              <a:buBlip>
                <a:blip r:embed="rId3"/>
              </a:buBlip>
              <a:defRPr sz="2000">
                <a:solidFill>
                  <a:srgbClr val="00205B"/>
                </a:solidFill>
              </a:defRPr>
            </a:lvl1pPr>
            <a:lvl2pPr marL="809625" indent="-285750" algn="just">
              <a:spcBef>
                <a:spcPts val="600"/>
              </a:spcBef>
              <a:buSzPct val="120000"/>
              <a:buFont typeface="Arial" panose="020B0604020202020204" pitchFamily="34" charset="0"/>
              <a:buChar char="•"/>
              <a:tabLst>
                <a:tab pos="1077913" algn="l"/>
              </a:tabLst>
              <a:defRPr sz="1800">
                <a:solidFill>
                  <a:srgbClr val="00205B"/>
                </a:solidFill>
              </a:defRPr>
            </a:lvl2pPr>
            <a:lvl3pPr marL="1077913" indent="-228600" algn="just">
              <a:spcBef>
                <a:spcPts val="600"/>
              </a:spcBef>
              <a:buSzPct val="100000"/>
              <a:buFont typeface="Arial" panose="020B0604020202020204" pitchFamily="34" charset="0"/>
              <a:buChar char="–"/>
              <a:defRPr sz="1600">
                <a:solidFill>
                  <a:srgbClr val="00205B"/>
                </a:solidFill>
              </a:defRPr>
            </a:lvl3pPr>
            <a:lvl4pPr marL="1347788" indent="-173038" algn="just"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solidFill>
                  <a:srgbClr val="00205B"/>
                </a:solidFill>
              </a:defRPr>
            </a:lvl4pPr>
            <a:lvl5pPr marL="161925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 : Dark Blue Arial 20,18 points line spacing]</a:t>
            </a:r>
          </a:p>
          <a:p>
            <a:pPr lvl="1"/>
            <a:r>
              <a:rPr lang="en-US" dirty="0"/>
              <a:t>Second level [Default : 2 font size smaller, 6 points line spacing]</a:t>
            </a:r>
          </a:p>
          <a:p>
            <a:pPr lvl="2"/>
            <a:r>
              <a:rPr lang="en-US" dirty="0"/>
              <a:t>Third level [Default : 2 font size smaller, 6 points line spacing] </a:t>
            </a:r>
          </a:p>
          <a:p>
            <a:pPr lvl="3"/>
            <a:r>
              <a:rPr lang="en-US" dirty="0"/>
              <a:t>Fourth level [ Default : 2 font size smaller, 6 points line spacing]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DDCF467-107E-404F-7680-5AB1100382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FEA09984-3C37-41C9-AD31-C9CAD3F3590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-7495" y="6588551"/>
            <a:ext cx="10899613" cy="269449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2698936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ontent slide (Numb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7AB80B-0228-6055-DC24-03DF87E2B7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04" y="-4159"/>
            <a:ext cx="12192000" cy="68815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EB8A0AB-9CBE-47A1-8192-668C8198F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620" y="129490"/>
            <a:ext cx="10734376" cy="55451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(Numbering)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A729689-FF58-0AE7-71AE-8C6713E1DC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620" y="979661"/>
            <a:ext cx="11088000" cy="5331491"/>
          </a:xfrm>
          <a:prstGeom prst="rect">
            <a:avLst/>
          </a:prstGeom>
        </p:spPr>
        <p:txBody>
          <a:bodyPr>
            <a:noAutofit/>
          </a:bodyPr>
          <a:lstStyle>
            <a:lvl1pPr marL="363538" indent="-363538" algn="just">
              <a:spcBef>
                <a:spcPts val="1800"/>
              </a:spcBef>
              <a:buSzPct val="100000"/>
              <a:buFont typeface="+mj-lt"/>
              <a:buAutoNum type="arabicPeriod"/>
              <a:defRPr sz="2000">
                <a:solidFill>
                  <a:srgbClr val="002060"/>
                </a:solidFill>
              </a:defRPr>
            </a:lvl1pPr>
            <a:lvl2pPr marL="809625" indent="-352425" algn="just" defTabSz="404813">
              <a:spcBef>
                <a:spcPts val="600"/>
              </a:spcBef>
              <a:buSzPct val="100000"/>
              <a:buFont typeface="+mj-lt"/>
              <a:buAutoNum type="alphaLcParenR"/>
              <a:defRPr sz="1800">
                <a:solidFill>
                  <a:srgbClr val="002060"/>
                </a:solidFill>
              </a:defRPr>
            </a:lvl2pPr>
            <a:lvl3pPr marL="1160463" indent="-266700" algn="just">
              <a:spcBef>
                <a:spcPts val="600"/>
              </a:spcBef>
              <a:buSzPct val="100000"/>
              <a:buFont typeface="+mj-lt"/>
              <a:buAutoNum type="romanLcParenR"/>
              <a:tabLst>
                <a:tab pos="1160463" algn="l"/>
              </a:tabLst>
              <a:defRPr sz="1600">
                <a:solidFill>
                  <a:srgbClr val="002060"/>
                </a:solidFill>
              </a:defRPr>
            </a:lvl3pPr>
            <a:lvl4pPr algn="just">
              <a:spcBef>
                <a:spcPts val="600"/>
              </a:spcBef>
              <a:defRPr sz="1600">
                <a:solidFill>
                  <a:srgbClr val="002060"/>
                </a:solidFill>
              </a:defRPr>
            </a:lvl4pPr>
            <a:lvl5pPr marL="205740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[Default: Dark blue Arial 20 font, 18 points line spacing]</a:t>
            </a:r>
          </a:p>
          <a:p>
            <a:pPr lvl="1"/>
            <a:r>
              <a:rPr lang="en-US" dirty="0"/>
              <a:t>Second level [ Default : 2 font size smaller, 6 points line spacing] </a:t>
            </a:r>
          </a:p>
          <a:p>
            <a:pPr lvl="2"/>
            <a:r>
              <a:rPr lang="en-US" dirty="0"/>
              <a:t>Third level [ Default : 2 font size smaller, 6 points line spacing] 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6C27A1A5-3F24-4D3B-A644-9C6A31F6BB1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0" y="6580140"/>
            <a:ext cx="12192000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8DEEC138-7060-4D48-82B2-B277906A0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86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ontent slide (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AA2F1D-E353-7984-4FEC-F7D5EA4257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815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EB8A0AB-9CBE-47A1-8192-668C8198F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937" y="125736"/>
            <a:ext cx="10733025" cy="55451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32 (Chevron) 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FDDA4D4-24BB-4256-713D-2AA676C585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876" y="979662"/>
            <a:ext cx="11088000" cy="5322526"/>
          </a:xfrm>
          <a:prstGeom prst="rect">
            <a:avLst/>
          </a:prstGeom>
        </p:spPr>
        <p:txBody>
          <a:bodyPr>
            <a:noAutofit/>
          </a:bodyPr>
          <a:lstStyle>
            <a:lvl1pPr marL="446088" indent="-446088" algn="just">
              <a:spcBef>
                <a:spcPts val="1800"/>
              </a:spcBef>
              <a:buSzPct val="100000"/>
              <a:buFontTx/>
              <a:buBlip>
                <a:blip r:embed="rId3"/>
              </a:buBlip>
              <a:defRPr sz="2000">
                <a:solidFill>
                  <a:srgbClr val="00205B"/>
                </a:solidFill>
              </a:defRPr>
            </a:lvl1pPr>
            <a:lvl2pPr marL="809625" indent="-285750" algn="just">
              <a:spcBef>
                <a:spcPts val="600"/>
              </a:spcBef>
              <a:buSzPct val="120000"/>
              <a:buFont typeface="Arial" panose="020B0604020202020204" pitchFamily="34" charset="0"/>
              <a:buChar char="•"/>
              <a:tabLst>
                <a:tab pos="1077913" algn="l"/>
              </a:tabLst>
              <a:defRPr sz="1800">
                <a:solidFill>
                  <a:srgbClr val="00205B"/>
                </a:solidFill>
              </a:defRPr>
            </a:lvl2pPr>
            <a:lvl3pPr marL="1160463" indent="-228600" algn="just">
              <a:spcBef>
                <a:spcPts val="600"/>
              </a:spcBef>
              <a:buSzPct val="100000"/>
              <a:buFont typeface="Arial" panose="020B0604020202020204" pitchFamily="34" charset="0"/>
              <a:buChar char="–"/>
              <a:defRPr sz="1600">
                <a:solidFill>
                  <a:srgbClr val="00205B"/>
                </a:solidFill>
              </a:defRPr>
            </a:lvl3pPr>
            <a:lvl4pPr marL="1430338" indent="-173038" algn="just"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solidFill>
                  <a:srgbClr val="00205B"/>
                </a:solidFill>
              </a:defRPr>
            </a:lvl4pPr>
            <a:lvl5pPr marL="161925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 : Dark Blue Arial 20,18 points line spacing]</a:t>
            </a:r>
          </a:p>
          <a:p>
            <a:pPr lvl="1"/>
            <a:r>
              <a:rPr lang="en-US" dirty="0"/>
              <a:t>Second level [Default : 2 font size smaller, 6 points line spacing]</a:t>
            </a:r>
          </a:p>
          <a:p>
            <a:pPr lvl="2"/>
            <a:r>
              <a:rPr lang="en-US" dirty="0"/>
              <a:t>Third level [Default : 2 font size smaller, 6 points line spacing] </a:t>
            </a:r>
          </a:p>
          <a:p>
            <a:pPr lvl="3"/>
            <a:r>
              <a:rPr lang="en-US" dirty="0"/>
              <a:t>Fourth level [ Default : 2 font size smaller, 6 points line spacing] 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152E67F5-0848-4883-8D1B-10C96103737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0" y="6580140"/>
            <a:ext cx="12192000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874B9FE-98DE-4377-9680-28E6553E4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89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wide content slide (Numb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DF51F0-DA93-F588-3A86-3195DC9BE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200" y="-1988"/>
            <a:ext cx="12193200" cy="6861977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7CB87F9-85F1-6EDE-03E9-E97EC68C4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862" y="226815"/>
            <a:ext cx="11998276" cy="6524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(Numbering)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968E9AF-AA16-471B-00C2-8DF5648BD1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620" y="979661"/>
            <a:ext cx="11197672" cy="5331491"/>
          </a:xfrm>
          <a:prstGeom prst="rect">
            <a:avLst/>
          </a:prstGeom>
        </p:spPr>
        <p:txBody>
          <a:bodyPr>
            <a:noAutofit/>
          </a:bodyPr>
          <a:lstStyle>
            <a:lvl1pPr marL="363538" indent="-363538" algn="just">
              <a:spcBef>
                <a:spcPts val="1800"/>
              </a:spcBef>
              <a:buSzPct val="100000"/>
              <a:buFont typeface="+mj-lt"/>
              <a:buAutoNum type="arabicPeriod"/>
              <a:defRPr sz="2000">
                <a:solidFill>
                  <a:srgbClr val="002060"/>
                </a:solidFill>
              </a:defRPr>
            </a:lvl1pPr>
            <a:lvl2pPr marL="809625" indent="-352425" algn="just" defTabSz="404813">
              <a:spcBef>
                <a:spcPts val="600"/>
              </a:spcBef>
              <a:buSzPct val="100000"/>
              <a:buFont typeface="+mj-lt"/>
              <a:buAutoNum type="alphaLcParenR"/>
              <a:defRPr sz="1800">
                <a:solidFill>
                  <a:srgbClr val="002060"/>
                </a:solidFill>
              </a:defRPr>
            </a:lvl2pPr>
            <a:lvl3pPr marL="1160463" indent="-266700" algn="just">
              <a:spcBef>
                <a:spcPts val="600"/>
              </a:spcBef>
              <a:buSzPct val="100000"/>
              <a:buFont typeface="+mj-lt"/>
              <a:buAutoNum type="romanLcParenR"/>
              <a:tabLst>
                <a:tab pos="1160463" algn="l"/>
              </a:tabLst>
              <a:defRPr sz="1600">
                <a:solidFill>
                  <a:srgbClr val="002060"/>
                </a:solidFill>
              </a:defRPr>
            </a:lvl3pPr>
            <a:lvl4pPr algn="just">
              <a:spcBef>
                <a:spcPts val="600"/>
              </a:spcBef>
              <a:defRPr sz="1600">
                <a:solidFill>
                  <a:srgbClr val="002060"/>
                </a:solidFill>
              </a:defRPr>
            </a:lvl4pPr>
            <a:lvl5pPr marL="205740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[Default: Dark blue Arial 20 font, 18 points line spacing]</a:t>
            </a:r>
          </a:p>
          <a:p>
            <a:pPr lvl="1"/>
            <a:r>
              <a:rPr lang="en-US" dirty="0"/>
              <a:t>Second level [ Default : 2 font size smaller, 6 points line spacing] </a:t>
            </a:r>
          </a:p>
          <a:p>
            <a:pPr lvl="2"/>
            <a:r>
              <a:rPr lang="en-US" dirty="0"/>
              <a:t>Third level [ Default : 2 font size smaller, 6 points line spacing] 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0265885-9716-05EF-03C7-3EF2C64B66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0" y="6556694"/>
            <a:ext cx="12192000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284CF13-45C1-2328-12A4-BA27CAE5CB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19381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0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wide content slide (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DB216-632A-636B-5379-F4326BD042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200" y="-1988"/>
            <a:ext cx="12190496" cy="686197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B130D54-8DDE-4C8A-849B-7AE044A3E4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1" y="226815"/>
            <a:ext cx="12001499" cy="6524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(Chevron) 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6BDBB8B-CE93-38A1-CACF-C5F20B20F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875" y="967938"/>
            <a:ext cx="11265693" cy="5334249"/>
          </a:xfrm>
          <a:prstGeom prst="rect">
            <a:avLst/>
          </a:prstGeom>
        </p:spPr>
        <p:txBody>
          <a:bodyPr>
            <a:noAutofit/>
          </a:bodyPr>
          <a:lstStyle>
            <a:lvl1pPr marL="446088" indent="-446088" algn="just">
              <a:spcBef>
                <a:spcPts val="1800"/>
              </a:spcBef>
              <a:buSzPct val="100000"/>
              <a:buFontTx/>
              <a:buBlip>
                <a:blip r:embed="rId3"/>
              </a:buBlip>
              <a:defRPr sz="2000">
                <a:solidFill>
                  <a:srgbClr val="00205B"/>
                </a:solidFill>
              </a:defRPr>
            </a:lvl1pPr>
            <a:lvl2pPr marL="809625" indent="-285750" algn="just">
              <a:spcBef>
                <a:spcPts val="600"/>
              </a:spcBef>
              <a:buSzPct val="120000"/>
              <a:buFont typeface="Arial" panose="020B0604020202020204" pitchFamily="34" charset="0"/>
              <a:buChar char="•"/>
              <a:tabLst>
                <a:tab pos="1077913" algn="l"/>
              </a:tabLst>
              <a:defRPr sz="1800">
                <a:solidFill>
                  <a:srgbClr val="00205B"/>
                </a:solidFill>
              </a:defRPr>
            </a:lvl2pPr>
            <a:lvl3pPr marL="1160463" indent="-228600" algn="just">
              <a:spcBef>
                <a:spcPts val="600"/>
              </a:spcBef>
              <a:buSzPct val="100000"/>
              <a:buFont typeface="Arial" panose="020B0604020202020204" pitchFamily="34" charset="0"/>
              <a:buChar char="–"/>
              <a:defRPr sz="1600">
                <a:solidFill>
                  <a:srgbClr val="00205B"/>
                </a:solidFill>
              </a:defRPr>
            </a:lvl3pPr>
            <a:lvl4pPr marL="1430338" indent="-173038" algn="just"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solidFill>
                  <a:srgbClr val="00205B"/>
                </a:solidFill>
              </a:defRPr>
            </a:lvl4pPr>
            <a:lvl5pPr marL="161925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 : Dark Blue Arial 20,18 points line spacing]</a:t>
            </a:r>
          </a:p>
          <a:p>
            <a:pPr lvl="1"/>
            <a:r>
              <a:rPr lang="en-US" dirty="0"/>
              <a:t>Second level [Default : 2 font size smaller, 6 points line spacing]</a:t>
            </a:r>
          </a:p>
          <a:p>
            <a:pPr lvl="2"/>
            <a:r>
              <a:rPr lang="en-US" dirty="0"/>
              <a:t>Third level [Default : 2 font size smaller, 6 points line spacing] </a:t>
            </a:r>
          </a:p>
          <a:p>
            <a:pPr lvl="3"/>
            <a:r>
              <a:rPr lang="en-US" dirty="0"/>
              <a:t>Fourth level [ Default : 2 font size smaller, 6 points line spacing] 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9C5778A4-AD9E-4317-7FFE-36676B5254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0" y="6556694"/>
            <a:ext cx="12192000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665DD20-F712-ECA7-FA43-06D1849E74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19381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991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CF5A82-2977-47EE-A71B-60EF59019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4" y="0"/>
            <a:ext cx="12200031" cy="6867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67DC37-6EEC-4845-B04B-9FFCA135F3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043" y="319802"/>
            <a:ext cx="2699794" cy="995192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F054BE22-2F42-4854-85F1-CFE2541A17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26673" y="6353151"/>
            <a:ext cx="1910441" cy="504459"/>
          </a:xfrm>
        </p:spPr>
        <p:txBody>
          <a:bodyPr/>
          <a:lstStyle>
            <a:lvl1pPr algn="ctr">
              <a:defRPr sz="1100" b="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18" name="Title 16"/>
          <p:cNvSpPr>
            <a:spLocks noGrp="1"/>
          </p:cNvSpPr>
          <p:nvPr>
            <p:ph type="title" hasCustomPrompt="1"/>
          </p:nvPr>
        </p:nvSpPr>
        <p:spPr>
          <a:xfrm>
            <a:off x="1126673" y="2848541"/>
            <a:ext cx="11062622" cy="1160918"/>
          </a:xfrm>
        </p:spPr>
        <p:txBody>
          <a:bodyPr>
            <a:noAutofit/>
          </a:bodyPr>
          <a:lstStyle>
            <a:lvl1pPr algn="ctr">
              <a:defRPr sz="4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kern="0" dirty="0"/>
              <a:t>End Note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07354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284" y="0"/>
            <a:ext cx="12199937" cy="6867796"/>
          </a:xfrm>
          <a:prstGeom prst="rect">
            <a:avLst/>
          </a:prstGeom>
        </p:spPr>
      </p:pic>
      <p:sp>
        <p:nvSpPr>
          <p:cNvPr id="18" name="Title 16"/>
          <p:cNvSpPr>
            <a:spLocks noGrp="1"/>
          </p:cNvSpPr>
          <p:nvPr>
            <p:ph type="title" hasCustomPrompt="1"/>
          </p:nvPr>
        </p:nvSpPr>
        <p:spPr>
          <a:xfrm>
            <a:off x="1110343" y="2848541"/>
            <a:ext cx="11078952" cy="1160918"/>
          </a:xfrm>
        </p:spPr>
        <p:txBody>
          <a:bodyPr>
            <a:noAutofit/>
          </a:bodyPr>
          <a:lstStyle>
            <a:lvl1pPr algn="ctr">
              <a:defRPr sz="4000" b="1">
                <a:solidFill>
                  <a:srgbClr val="00205B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kern="0" dirty="0"/>
              <a:t>Alternate End Note</a:t>
            </a:r>
            <a:endParaRPr lang="en-SG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978568" y="356869"/>
            <a:ext cx="2699794" cy="902008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83171966-B20C-8584-8B61-C39535A2D6A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19188" y="6580140"/>
            <a:ext cx="11072812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1989933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1292" y="7800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79616"/>
            <a:ext cx="12191999" cy="2674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7375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4796" y="6579616"/>
            <a:ext cx="857203" cy="256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7375E"/>
                </a:solidFill>
                <a:latin typeface="Arial"/>
                <a:cs typeface="Arial"/>
              </a:defRPr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3EBD3-3ECF-E72D-3E42-AB04A2F2A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1292" y="1724642"/>
            <a:ext cx="10972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4509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8" r:id="rId3"/>
    <p:sldLayoutId id="2147483650" r:id="rId4"/>
    <p:sldLayoutId id="2147483663" r:id="rId5"/>
    <p:sldLayoutId id="2147483652" r:id="rId6"/>
    <p:sldLayoutId id="2147483683" r:id="rId7"/>
    <p:sldLayoutId id="2147483681" r:id="rId8"/>
    <p:sldLayoutId id="2147483680" r:id="rId9"/>
    <p:sldLayoutId id="2147483682" r:id="rId10"/>
    <p:sldLayoutId id="2147483684" r:id="rId11"/>
    <p:sldLayoutId id="2147483658" r:id="rId1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000" b="1" kern="1200">
          <a:solidFill>
            <a:srgbClr val="002060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30000"/>
        <a:buFont typeface="Arial"/>
        <a:buChar char="•"/>
        <a:defRPr sz="2200" kern="1200">
          <a:solidFill>
            <a:srgbClr val="002060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ts val="600"/>
        </a:spcBef>
        <a:buSzPct val="100000"/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ts val="600"/>
        </a:spcBef>
        <a:buFont typeface="Arial" panose="020B0604020202020204" pitchFamily="34" charset="0"/>
        <a:buChar char="–"/>
        <a:defRPr sz="1800" kern="1200">
          <a:solidFill>
            <a:srgbClr val="002060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rgbClr val="002060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2060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OpsTracker</a:t>
            </a:r>
          </a:p>
          <a:p>
            <a:pPr algn="ctr">
              <a:spcBef>
                <a:spcPts val="800"/>
              </a:spcBef>
            </a:pPr>
            <a:r>
              <a:rPr sz="2000">
                <a:solidFill>
                  <a:srgbClr val="FFFFFF"/>
                </a:solidFill>
                <a:latin typeface="Arial"/>
              </a:rPr>
              <a:t>Digital Attendance Management for SPF NS Reservists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>
                  <a:srgbClr val="FFFFFF"/>
                </a:solidFill>
              </a:rPr>
              <a:t>17 August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>
                  <a:srgbClr val="FFFFFF"/>
                </a:solidFill>
              </a:rPr>
              <a:t>For Approval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ln>
            <a:noFill/>
          </a:ln>
        </p:spPr>
        <p:txBody>
          <a:bodyPr/>
          <a:lstStyle/>
          <a:p>
            <a:r>
              <a:rPr b="1">
                <a:solidFill>
                  <a:srgbClr val="FFFFFF"/>
                </a:solidFill>
                <a:latin typeface="Arial"/>
              </a:rPr>
              <a:t>Ops Security, Ops Branch</a:t>
            </a:r>
          </a:p>
          <a:p>
            <a:r>
              <a:rPr>
                <a:solidFill>
                  <a:srgbClr val="FFFFFF"/>
                </a:solidFill>
                <a:latin typeface="Arial"/>
              </a:rPr>
              <a:t>NSPI Sun Jin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69848"/>
            <a:ext cx="310896" cy="2286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993392" y="11064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48256" y="1060704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7632" y="1527048"/>
            <a:ext cx="310896" cy="2286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993392" y="15636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48256" y="1517904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7632" y="1984248"/>
            <a:ext cx="310896" cy="2286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3392" y="20208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48256" y="1975103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Before vs After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7632" y="2441448"/>
            <a:ext cx="310896" cy="2286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93392" y="24780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48256" y="2432303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Introducing OpsTracker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7632" y="2898648"/>
            <a:ext cx="310896" cy="2286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3392" y="29352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48256" y="2889503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Reservist Experience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2" y="3355848"/>
            <a:ext cx="310896" cy="2286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3392" y="33924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48256" y="3346703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Admin Capabilities and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7632" y="3813048"/>
            <a:ext cx="310896" cy="2286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3392" y="38496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48256" y="3803904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Reservist App Screens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27632" y="4270248"/>
            <a:ext cx="310896" cy="2286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93392" y="43068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48256" y="4261104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Admin Dashboard Screens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27632" y="4727448"/>
            <a:ext cx="310896" cy="2286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93392" y="47640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48256" y="4718304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Expected Benefits and Impact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02552" y="1069848"/>
            <a:ext cx="310896" cy="2286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68312" y="11064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23176" y="1060704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Data Security and Privacy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02552" y="1527048"/>
            <a:ext cx="310896" cy="2286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68312" y="15636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23176" y="1517904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PDPA Compliance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02552" y="1984248"/>
            <a:ext cx="310896" cy="2286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68312" y="20208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23176" y="1975103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Cost and Value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02552" y="2441448"/>
            <a:ext cx="310896" cy="2286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68312" y="24780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23176" y="2432303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Why Now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02552" y="2898648"/>
            <a:ext cx="310896" cy="2286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68312" y="29352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23176" y="2889503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Challenges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02552" y="3355848"/>
            <a:ext cx="310896" cy="2286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68312" y="33924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23176" y="3346703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Deployment Timeline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02552" y="3813048"/>
            <a:ext cx="310896" cy="2286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68312" y="38496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23176" y="3803904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Handover Plan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02552" y="4270248"/>
            <a:ext cx="310896" cy="2286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68312" y="4306824"/>
            <a:ext cx="14630" cy="1828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23176" y="4261104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0205B"/>
                </a:solidFill>
                <a:latin typeface="Arial"/>
              </a:rPr>
              <a:t>Future Plans and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dirty="0">
                <a:solidFill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64008" cy="230428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1368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The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1368" y="1444751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368" y="1490472"/>
            <a:ext cx="4631436" cy="17922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Attendance tracked verbally with no system verification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No real-time visibility for the team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No consolidated records or audit trail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688836" y="1051560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88836" y="1051560"/>
            <a:ext cx="64008" cy="23042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62572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The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62572" y="1444751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2572" y="1490472"/>
            <a:ext cx="4631436" cy="17922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GPS-verified check-in via mobile browser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Live dashboard viewable by the team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Digital leave and MC; full history; one-click export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7632" y="3493008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27632" y="3493008"/>
            <a:ext cx="64008" cy="23042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01368" y="3593591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Cost to the Unit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1368" y="3886200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01368" y="3931920"/>
            <a:ext cx="4631436" cy="17922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Built in-house at SGD 0 development cost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Running cost: SGD 0 to SGD 15 per year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Free tier supports years of use at this unit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88836" y="3493008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88836" y="3493008"/>
            <a:ext cx="64008" cy="230428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62572" y="3593591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What We Are Asking For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62572" y="3886200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62572" y="3931920"/>
            <a:ext cx="4631436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Approval to deploy at the next Ops Security cycle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System is fully built, tested</a:t>
            </a:r>
            <a:r>
              <a:rPr lang="en-SG" sz="1500" dirty="0">
                <a:solidFill>
                  <a:srgbClr val="00205B"/>
                </a:solidFill>
                <a:latin typeface="Arial"/>
              </a:rPr>
              <a:t> </a:t>
            </a:r>
            <a:r>
              <a:rPr sz="1500" dirty="0">
                <a:solidFill>
                  <a:srgbClr val="00205B"/>
                </a:solidFill>
                <a:latin typeface="Arial"/>
              </a:rPr>
              <a:t>and ready to go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Onboarding can begin within days of approval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 algn="ctr"/>
            <a:r>
              <a:rPr sz="3600" b="1" dirty="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126672" y="3176771"/>
            <a:ext cx="11062624" cy="504458"/>
          </a:xfrm>
          <a:ln>
            <a:noFill/>
          </a:ln>
        </p:spPr>
        <p:txBody>
          <a:bodyPr/>
          <a:lstStyle/>
          <a:p>
            <a:pPr algn="ctr"/>
            <a:r>
              <a:rPr sz="2000" b="0" dirty="0">
                <a:solidFill>
                  <a:srgbClr val="FFFFFF"/>
                </a:solidFill>
              </a:rPr>
              <a:t>Verbal check-ins with no verification, visibility</a:t>
            </a:r>
            <a:r>
              <a:rPr lang="en-SG" sz="2000" dirty="0">
                <a:solidFill>
                  <a:srgbClr val="FFFFFF"/>
                </a:solidFill>
              </a:rPr>
              <a:t> </a:t>
            </a:r>
            <a:r>
              <a:rPr sz="2000" b="0" dirty="0">
                <a:solidFill>
                  <a:srgbClr val="FFFFFF"/>
                </a:solidFill>
              </a:rPr>
              <a:t>or records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9939528" cy="1706879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64008" cy="1706879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1368" y="1152144"/>
            <a:ext cx="971092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SG" sz="1600" b="1" i="0" dirty="0">
                <a:solidFill>
                  <a:srgbClr val="00205B"/>
                </a:solidFill>
                <a:latin typeface="Arial"/>
              </a:rPr>
              <a:t>01  </a:t>
            </a:r>
            <a:r>
              <a:rPr sz="1600" b="1" i="0" dirty="0">
                <a:solidFill>
                  <a:srgbClr val="00205B"/>
                </a:solidFill>
                <a:latin typeface="Arial"/>
              </a:rPr>
              <a:t>No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1368" y="1444751"/>
            <a:ext cx="9692640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368" y="1490472"/>
            <a:ext cx="9692640" cy="11948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205B"/>
                </a:solidFill>
                <a:latin typeface="Arial"/>
              </a:rPr>
              <a:t>•  Reservists report verbally with no system check or confirmation</a:t>
            </a:r>
          </a:p>
          <a:p>
            <a:pPr>
              <a:spcBef>
                <a:spcPts val="900"/>
              </a:spcBef>
            </a:pPr>
            <a:r>
              <a:rPr sz="1500">
                <a:solidFill>
                  <a:srgbClr val="00205B"/>
                </a:solidFill>
                <a:latin typeface="Arial"/>
              </a:rPr>
              <a:t>•  No way to confirm physical presence at the reporting 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7632" y="2849880"/>
            <a:ext cx="9939528" cy="1706879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7632" y="2849880"/>
            <a:ext cx="64008" cy="170687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1368" y="2950464"/>
            <a:ext cx="971092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02  No Visibility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1368" y="3243072"/>
            <a:ext cx="9692640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01368" y="3288792"/>
            <a:ext cx="9692640" cy="11948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The team has no real-time view without being physically present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Leave and MC handled informally via chat with no formal record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7632" y="4648200"/>
            <a:ext cx="9939528" cy="1706879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27632" y="4648200"/>
            <a:ext cx="64008" cy="1706879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01368" y="4748784"/>
            <a:ext cx="971092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03  No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1368" y="5041391"/>
            <a:ext cx="9692640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01368" y="5087111"/>
            <a:ext cx="9692640" cy="11948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No consolidated attendance history exists for the unit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Chronic absences go undetected until it is too late to 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Before vs After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051560"/>
          <a:ext cx="9939527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Before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OpsTracker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rgbClr val="00205B"/>
                          </a:solidFill>
                          <a:latin typeface="Arial"/>
                        </a:rPr>
                        <a:t>Attendance Check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7F1F1F"/>
                          </a:solidFill>
                          <a:latin typeface="Arial"/>
                        </a:rPr>
                        <a:t>Verbal, trust-based; no verification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4E1F"/>
                          </a:solidFill>
                          <a:latin typeface="Arial"/>
                        </a:rPr>
                        <a:t>GPS-verified check-in via mobile browser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205B"/>
                          </a:solidFill>
                          <a:latin typeface="Arial"/>
                        </a:rPr>
                        <a:t>Supervisor 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7F1F1F"/>
                          </a:solidFill>
                          <a:latin typeface="Arial"/>
                        </a:rPr>
                        <a:t>Must be on site to know who showed up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F4E1F"/>
                          </a:solidFill>
                          <a:latin typeface="Arial"/>
                        </a:rPr>
                        <a:t>Live dashboard updated in real time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205B"/>
                          </a:solidFill>
                          <a:latin typeface="Arial"/>
                        </a:rPr>
                        <a:t>Leave and MC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7F1F1F"/>
                          </a:solidFill>
                          <a:latin typeface="Arial"/>
                        </a:rPr>
                        <a:t>WhatsApp or verbal; no formal record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F4E1F"/>
                          </a:solidFill>
                          <a:latin typeface="Arial"/>
                        </a:rPr>
                        <a:t>Digital submission with full approval history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205B"/>
                          </a:solidFill>
                          <a:latin typeface="Arial"/>
                        </a:rPr>
                        <a:t>Record Keeping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7F1F1F"/>
                          </a:solidFill>
                          <a:latin typeface="Arial"/>
                        </a:rPr>
                        <a:t>Relies on memory and scattered chat logs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F4E1F"/>
                          </a:solidFill>
                          <a:latin typeface="Arial"/>
                        </a:rPr>
                        <a:t>Permanent digital log with one-click export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205B"/>
                          </a:solidFill>
                          <a:latin typeface="Arial"/>
                        </a:rPr>
                        <a:t>Accountability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7F1F1F"/>
                          </a:solidFill>
                          <a:latin typeface="Arial"/>
                        </a:rPr>
                        <a:t>No mechanism to flag repeated no-shows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F4E1F"/>
                          </a:solidFill>
                          <a:latin typeface="Arial"/>
                        </a:rPr>
                        <a:t>Auto-absent marking and trend tracking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The 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126672" y="3176771"/>
            <a:ext cx="11062624" cy="504458"/>
          </a:xfrm>
          <a:ln>
            <a:noFill/>
          </a:ln>
        </p:spPr>
        <p:txBody>
          <a:bodyPr wrap="square"/>
          <a:lstStyle/>
          <a:p>
            <a:pPr algn="ctr"/>
            <a:r>
              <a:rPr sz="2000" b="0">
                <a:solidFill>
                  <a:srgbClr val="FFFFFF"/>
                </a:solidFill>
              </a:rPr>
              <a:t>GPS-verified mobile check-in, live dashboards, and full digital records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Introducing OpsTracker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051560"/>
            <a:ext cx="993952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500" b="0" i="0" dirty="0">
                <a:solidFill>
                  <a:srgbClr val="00205B"/>
                </a:solidFill>
                <a:latin typeface="Arial"/>
              </a:rPr>
              <a:t>Mobile-first Progressive Web App replacing verbal check-ins with GPS-verified digital attendance records.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7632" y="1536192"/>
            <a:ext cx="3221735" cy="402336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Progressive Web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6528" y="1536192"/>
            <a:ext cx="3221735" cy="40233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  <a:latin typeface="Arial"/>
              </a:rPr>
              <a:t>Supabase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 + Realtime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5423" y="1536192"/>
            <a:ext cx="3221735" cy="40233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"/>
              </a:rPr>
              <a:t>GPS Shift Verification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7632" y="2048256"/>
            <a:ext cx="9939528" cy="69494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27632" y="2048256"/>
            <a:ext cx="64008" cy="69494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01368" y="2130552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 i="0" dirty="0">
                <a:solidFill>
                  <a:srgbClr val="00205B"/>
                </a:solidFill>
                <a:latin typeface="Arial"/>
              </a:rPr>
              <a:t>Mobile-First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1368" y="2368296"/>
            <a:ext cx="9692640" cy="11887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01368" y="239572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 dirty="0">
                <a:solidFill>
                  <a:srgbClr val="00205B"/>
                </a:solidFill>
                <a:latin typeface="Arial"/>
              </a:rPr>
              <a:t>Works on iOS, Android</a:t>
            </a:r>
            <a:r>
              <a:rPr lang="en-SG" sz="1300" dirty="0">
                <a:solidFill>
                  <a:srgbClr val="00205B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00205B"/>
                </a:solidFill>
                <a:latin typeface="Arial"/>
              </a:rPr>
              <a:t>or desktop. No app store download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7632" y="2825496"/>
            <a:ext cx="9939528" cy="69494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27632" y="2825496"/>
            <a:ext cx="64008" cy="69494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01368" y="2907792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 i="0" dirty="0">
                <a:solidFill>
                  <a:srgbClr val="4F81BD"/>
                </a:solidFill>
                <a:latin typeface="Arial"/>
              </a:rPr>
              <a:t>GPS Check-In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1368" y="3145536"/>
            <a:ext cx="9692640" cy="11887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01368" y="317296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 dirty="0">
                <a:solidFill>
                  <a:srgbClr val="00205B"/>
                </a:solidFill>
                <a:latin typeface="Arial"/>
              </a:rPr>
              <a:t>Confirms device location before recording. Supports AM, PM</a:t>
            </a:r>
            <a:r>
              <a:rPr lang="en-SG" sz="1300" dirty="0">
                <a:solidFill>
                  <a:srgbClr val="00205B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00205B"/>
                </a:solidFill>
                <a:latin typeface="Arial"/>
              </a:rPr>
              <a:t>and Full Day shifts.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27632" y="3602736"/>
            <a:ext cx="9939528" cy="69494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27632" y="3602736"/>
            <a:ext cx="64008" cy="69494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01368" y="3685032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4F81BD"/>
                </a:solidFill>
                <a:latin typeface="Arial"/>
              </a:rPr>
              <a:t>Real-Time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01368" y="3922776"/>
            <a:ext cx="9692640" cy="11887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01368" y="395020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 dirty="0">
                <a:solidFill>
                  <a:srgbClr val="00205B"/>
                </a:solidFill>
                <a:latin typeface="Arial"/>
              </a:rPr>
              <a:t>Live view of present, absent</a:t>
            </a:r>
            <a:r>
              <a:rPr lang="en-SG" sz="1300" dirty="0">
                <a:solidFill>
                  <a:srgbClr val="00205B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00205B"/>
                </a:solidFill>
                <a:latin typeface="Arial"/>
              </a:rPr>
              <a:t>and MC status as check-ins happen.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27632" y="4379976"/>
            <a:ext cx="9939528" cy="69494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27632" y="4379976"/>
            <a:ext cx="64008" cy="69494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01368" y="4462272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4F81BD"/>
                </a:solidFill>
                <a:latin typeface="Arial"/>
              </a:rPr>
              <a:t>Attendance History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1368" y="4700016"/>
            <a:ext cx="9692640" cy="11887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01368" y="47274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 dirty="0">
                <a:solidFill>
                  <a:srgbClr val="00205B"/>
                </a:solidFill>
                <a:latin typeface="Arial"/>
              </a:rPr>
              <a:t>Full records and trends for any reservist or cycle, searchable anytime.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27632" y="5157216"/>
            <a:ext cx="9939528" cy="69494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627632" y="5157216"/>
            <a:ext cx="64008" cy="69494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01368" y="5239512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 i="0" dirty="0">
                <a:solidFill>
                  <a:srgbClr val="00205B"/>
                </a:solidFill>
                <a:latin typeface="Arial"/>
              </a:rPr>
              <a:t>Automated Reporting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1368" y="5477256"/>
            <a:ext cx="9692640" cy="11887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01368" y="550468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 dirty="0">
                <a:solidFill>
                  <a:srgbClr val="00205B"/>
                </a:solidFill>
                <a:latin typeface="Arial"/>
              </a:rPr>
              <a:t>One-click export to Excel or a print-ready cycle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Reservist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2224277" cy="438912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64008" cy="43891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83080" y="1161288"/>
            <a:ext cx="1977389" cy="256032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508760"/>
            <a:ext cx="1977389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Register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1368" y="2093976"/>
            <a:ext cx="1959101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01368" y="2167128"/>
            <a:ext cx="1959101" cy="3200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Submit form online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Admin activates account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Receive login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8485" y="3044951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4F81BD"/>
                </a:solidFill>
                <a:latin typeface="Arial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9381" y="1051560"/>
            <a:ext cx="2224277" cy="438912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99381" y="1051560"/>
            <a:ext cx="64008" cy="43891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54829" y="1161288"/>
            <a:ext cx="1977389" cy="2560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4829" y="1508760"/>
            <a:ext cx="1977389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Check 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3118" y="2093976"/>
            <a:ext cx="1959101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3118" y="2167128"/>
            <a:ext cx="1959101" cy="3200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Open app in reporting window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GPS confirms location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One tap records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0235" y="3044951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4F81B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71131" y="1051560"/>
            <a:ext cx="2224277" cy="438912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71131" y="1051560"/>
            <a:ext cx="64008" cy="43891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26579" y="1161288"/>
            <a:ext cx="1977389" cy="2560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6579" y="1508760"/>
            <a:ext cx="1977389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Leave / MC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4868" y="2093976"/>
            <a:ext cx="1959101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4868" y="2167128"/>
            <a:ext cx="1959101" cy="3200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Submit request digitally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Receive approval in-app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History tracked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1985" y="3044951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4F81B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2881" y="1051560"/>
            <a:ext cx="2224277" cy="438912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42881" y="1051560"/>
            <a:ext cx="64008" cy="43891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98329" y="1161288"/>
            <a:ext cx="1977389" cy="2560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8329" y="1508760"/>
            <a:ext cx="1977389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View History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16617" y="2093976"/>
            <a:ext cx="1959101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16617" y="2167128"/>
            <a:ext cx="1959101" cy="3200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Access records anytime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Check attendance trends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See leave outcomes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8514" y="5550408"/>
            <a:ext cx="993952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00" b="0" i="1">
                <a:solidFill>
                  <a:srgbClr val="4F81BD"/>
                </a:solidFill>
                <a:latin typeface="Arial"/>
              </a:rPr>
              <a:t>Reservists can install OpsTracker to their home screen as a PWA. No app store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Admin and Supervisor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64008" cy="230428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1368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Attendance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1368" y="1444751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368" y="1490472"/>
            <a:ext cx="4631436" cy="13003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Live dashboard: present, absent</a:t>
            </a:r>
            <a:r>
              <a:rPr lang="en-SG" sz="1400" dirty="0">
                <a:solidFill>
                  <a:srgbClr val="00205B"/>
                </a:solidFill>
                <a:latin typeface="Arial"/>
              </a:rPr>
              <a:t> </a:t>
            </a:r>
            <a:r>
              <a:rPr sz="1400" dirty="0">
                <a:solidFill>
                  <a:srgbClr val="00205B"/>
                </a:solidFill>
                <a:latin typeface="Arial"/>
              </a:rPr>
              <a:t>and MC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Manual attendance override with full audit log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Mark all present or configure no-report days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Auto-absent marking after check-in window closes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7632" y="3493008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7632" y="3493008"/>
            <a:ext cx="64008" cy="23042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1368" y="3593591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Leave and MC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1368" y="3886200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01368" y="3931920"/>
            <a:ext cx="4631436" cy="17922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Approve or reject requests individually or in bulk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Cancel approved leave if plans change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Full leave history per reservist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MC tracked separately from standard leave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88836" y="1051560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88836" y="1051560"/>
            <a:ext cx="64008" cy="230428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2572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Roster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62572" y="1444751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2572" y="1490472"/>
            <a:ext cx="4631436" cy="13003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Add, deactivate</a:t>
            </a:r>
            <a:r>
              <a:rPr lang="en-SG" sz="1400" dirty="0">
                <a:solidFill>
                  <a:srgbClr val="00205B"/>
                </a:solidFill>
                <a:latin typeface="Arial"/>
              </a:rPr>
              <a:t> </a:t>
            </a:r>
            <a:r>
              <a:rPr sz="1400" dirty="0">
                <a:solidFill>
                  <a:srgbClr val="00205B"/>
                </a:solidFill>
                <a:latin typeface="Arial"/>
              </a:rPr>
              <a:t>or reassign reservists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CSV bulk upload and password resets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Welfare notes and member activity log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Assign reservists to batches and companies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88836" y="3493008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88836" y="3493008"/>
            <a:ext cx="64008" cy="23042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62572" y="3593591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 dirty="0">
                <a:solidFill>
                  <a:srgbClr val="4F81BD"/>
                </a:solidFill>
                <a:latin typeface="Arial"/>
              </a:rPr>
              <a:t>Reporting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62572" y="3886200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62572" y="3931920"/>
            <a:ext cx="4631436" cy="17922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Export cycle report to Excel or print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WhatsApp broadcast to the full unit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Cycle picker and multi-day date range view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Attendance trend snapshot per exercise 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5897880"/>
            <a:ext cx="993952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00" b="0" i="1" dirty="0">
                <a:solidFill>
                  <a:srgbClr val="4F81BD"/>
                </a:solidFill>
                <a:latin typeface="Arial"/>
              </a:rPr>
              <a:t>Super Admins can also manage admin accounts, create cycles, and define GPS reporting boundaries.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Reservist App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14983"/>
            <a:ext cx="1878178" cy="427126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1878178" cy="423468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27632" y="1051560"/>
            <a:ext cx="1878178" cy="20116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19072" y="2660741"/>
            <a:ext cx="1695298" cy="11857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000" b="0" i="0">
                <a:solidFill>
                  <a:srgbClr val="D4E1F2"/>
                </a:solidFill>
                <a:latin typeface="Arial"/>
              </a:rPr>
              <a:t>[Login Screen]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5414263"/>
            <a:ext cx="1878178" cy="493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0205B"/>
                </a:solidFill>
                <a:latin typeface="Arial"/>
              </a:rPr>
              <a:t>Login</a:t>
            </a:r>
          </a:p>
          <a:p>
            <a:pPr algn="ctr">
              <a:spcBef>
                <a:spcPts val="300"/>
              </a:spcBef>
            </a:pPr>
            <a:r>
              <a:rPr sz="900" i="1" dirty="0">
                <a:solidFill>
                  <a:srgbClr val="4F81BD"/>
                </a:solidFill>
                <a:latin typeface="Arial"/>
              </a:rPr>
              <a:t>Email and password sign-in; session persists on device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42970" y="1014983"/>
            <a:ext cx="1878178" cy="427126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42970" y="1051560"/>
            <a:ext cx="1878178" cy="4234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42970" y="1051560"/>
            <a:ext cx="1878178" cy="20116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4410" y="2660741"/>
            <a:ext cx="1695298" cy="11857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000" b="0" i="0">
                <a:solidFill>
                  <a:srgbClr val="D4E1F2"/>
                </a:solidFill>
                <a:latin typeface="Arial"/>
              </a:rPr>
              <a:t>[Check-In Screen]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970" y="5414263"/>
            <a:ext cx="1878178" cy="493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Arial"/>
              </a:rPr>
              <a:t>GPS Check-In</a:t>
            </a:r>
          </a:p>
          <a:p>
            <a:pPr algn="ctr">
              <a:spcBef>
                <a:spcPts val="300"/>
              </a:spcBef>
            </a:pPr>
            <a:r>
              <a:rPr sz="900" i="1">
                <a:solidFill>
                  <a:srgbClr val="4F81BD"/>
                </a:solidFill>
                <a:latin typeface="Arial"/>
              </a:rPr>
              <a:t>Shift selector, GPS confirmation, one-tap submission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58308" y="1014983"/>
            <a:ext cx="1878178" cy="427126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58308" y="1051560"/>
            <a:ext cx="1878178" cy="4234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58308" y="1051560"/>
            <a:ext cx="1878178" cy="20116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49748" y="2660741"/>
            <a:ext cx="1695298" cy="11857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000" b="0" i="0">
                <a:solidFill>
                  <a:srgbClr val="D4E1F2"/>
                </a:solidFill>
                <a:latin typeface="Arial"/>
              </a:rPr>
              <a:t>[Leave / MC Form]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8308" y="5414263"/>
            <a:ext cx="1878178" cy="493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Arial"/>
              </a:rPr>
              <a:t>Leave and MC</a:t>
            </a:r>
          </a:p>
          <a:p>
            <a:pPr algn="ctr">
              <a:spcBef>
                <a:spcPts val="300"/>
              </a:spcBef>
            </a:pPr>
            <a:r>
              <a:rPr sz="900" i="1">
                <a:solidFill>
                  <a:srgbClr val="4F81BD"/>
                </a:solidFill>
                <a:latin typeface="Arial"/>
              </a:rPr>
              <a:t>Date range, reason, and type; submitted digitally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73646" y="1014983"/>
            <a:ext cx="1878178" cy="427126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73646" y="1051560"/>
            <a:ext cx="1878178" cy="4234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73646" y="1051560"/>
            <a:ext cx="1878178" cy="20116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65086" y="2660741"/>
            <a:ext cx="1695298" cy="11857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000" b="0" i="0">
                <a:solidFill>
                  <a:srgbClr val="D4E1F2"/>
                </a:solidFill>
                <a:latin typeface="Arial"/>
              </a:rPr>
              <a:t>[My Attendance]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9346" y="5414263"/>
            <a:ext cx="2106778" cy="6540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0205B"/>
                </a:solidFill>
                <a:latin typeface="Arial"/>
              </a:rPr>
              <a:t>Attendance</a:t>
            </a:r>
          </a:p>
          <a:p>
            <a:pPr algn="ctr">
              <a:spcBef>
                <a:spcPts val="300"/>
              </a:spcBef>
            </a:pPr>
            <a:r>
              <a:rPr sz="900" i="1" dirty="0">
                <a:solidFill>
                  <a:srgbClr val="4F81BD"/>
                </a:solidFill>
                <a:latin typeface="Arial"/>
              </a:rPr>
              <a:t>Personal record of all shifts, leaves, and MC</a:t>
            </a:r>
          </a:p>
        </p:txBody>
      </p:sp>
      <p:sp>
        <p:nvSpPr>
          <p:cNvPr id="30" name="Rectangle P5A"/>
          <p:cNvSpPr/>
          <p:nvPr/>
        </p:nvSpPr>
        <p:spPr>
          <a:xfrm>
            <a:off x="9688984" y="1014983"/>
            <a:ext cx="1878178" cy="427126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P5B"/>
          <p:cNvSpPr/>
          <p:nvPr/>
        </p:nvSpPr>
        <p:spPr>
          <a:xfrm>
            <a:off x="9688984" y="1051560"/>
            <a:ext cx="1878178" cy="4234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P5C"/>
          <p:cNvSpPr/>
          <p:nvPr/>
        </p:nvSpPr>
        <p:spPr>
          <a:xfrm>
            <a:off x="9688984" y="1051560"/>
            <a:ext cx="1878178" cy="20116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P5D"/>
          <p:cNvSpPr txBox="1"/>
          <p:nvPr/>
        </p:nvSpPr>
        <p:spPr>
          <a:xfrm>
            <a:off x="9780424" y="2660741"/>
            <a:ext cx="1695298" cy="11857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000" b="0" i="0">
                <a:solidFill>
                  <a:srgbClr val="D4E1F2"/>
                </a:solidFill>
                <a:latin typeface="Arial"/>
              </a:rPr>
              <a:t>[Home / Briefings]</a:t>
            </a:r>
          </a:p>
        </p:txBody>
      </p:sp>
      <p:sp>
        <p:nvSpPr>
          <p:cNvPr id="34" name="TextBox P5E"/>
          <p:cNvSpPr txBox="1"/>
          <p:nvPr/>
        </p:nvSpPr>
        <p:spPr>
          <a:xfrm>
            <a:off x="9688984" y="5414263"/>
            <a:ext cx="1878178" cy="493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Arial"/>
              </a:rPr>
              <a:t>Home</a:t>
            </a:r>
          </a:p>
          <a:p>
            <a:pPr algn="ctr">
              <a:spcBef>
                <a:spcPts val="300"/>
              </a:spcBef>
            </a:pPr>
            <a:r>
              <a:rPr sz="900" i="1">
                <a:solidFill>
                  <a:srgbClr val="4F81BD"/>
                </a:solidFill>
                <a:latin typeface="Arial"/>
              </a:rPr>
              <a:t>Cycle notices and upcoming shift info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4B49D1F-DECC-4B62-FF80-17D4EF63D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13" y="1008232"/>
            <a:ext cx="1869615" cy="351813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41A75F1-D2BA-389C-13ED-633AFE1B1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309" y="1008232"/>
            <a:ext cx="1878178" cy="351813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3033A3C-40A9-A63A-1542-492F70A93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647" y="1008232"/>
            <a:ext cx="1880960" cy="351138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519A011-9AA1-DEB6-5065-328AA1461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2700" y="1008232"/>
            <a:ext cx="1890746" cy="35113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Admin Dashboard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14983"/>
            <a:ext cx="1878178" cy="427126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1878178" cy="4234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27632" y="1051560"/>
            <a:ext cx="1878178" cy="20116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19072" y="2660741"/>
            <a:ext cx="1695298" cy="11857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000" b="0" i="0">
                <a:solidFill>
                  <a:srgbClr val="D4E1F2"/>
                </a:solidFill>
                <a:latin typeface="Arial"/>
              </a:rPr>
              <a:t>[Attendance Dashboard]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5414263"/>
            <a:ext cx="1878178" cy="493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Arial"/>
              </a:rPr>
              <a:t>Live Dashboard</a:t>
            </a:r>
          </a:p>
          <a:p>
            <a:pPr algn="ctr">
              <a:spcBef>
                <a:spcPts val="300"/>
              </a:spcBef>
            </a:pPr>
            <a:r>
              <a:rPr sz="900" i="1">
                <a:solidFill>
                  <a:srgbClr val="4F81BD"/>
                </a:solidFill>
                <a:latin typeface="Arial"/>
              </a:rPr>
              <a:t>Real-time present, absent, and MC status per shift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42970" y="1014983"/>
            <a:ext cx="1878178" cy="427126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42970" y="1051560"/>
            <a:ext cx="1878178" cy="4234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42970" y="1051560"/>
            <a:ext cx="1878178" cy="20116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4410" y="2660741"/>
            <a:ext cx="1695298" cy="11857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000" b="0" i="0">
                <a:solidFill>
                  <a:srgbClr val="D4E1F2"/>
                </a:solidFill>
                <a:latin typeface="Arial"/>
              </a:rPr>
              <a:t>[Leave Approvals Queue]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970" y="5414263"/>
            <a:ext cx="1878178" cy="493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Arial"/>
              </a:rPr>
              <a:t>Leave Approvals</a:t>
            </a:r>
          </a:p>
          <a:p>
            <a:pPr algn="ctr">
              <a:spcBef>
                <a:spcPts val="300"/>
              </a:spcBef>
            </a:pPr>
            <a:r>
              <a:rPr sz="900" i="1">
                <a:solidFill>
                  <a:srgbClr val="4F81BD"/>
                </a:solidFill>
                <a:latin typeface="Arial"/>
              </a:rPr>
              <a:t>Pending requests with one-tap approve or reject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58308" y="1014983"/>
            <a:ext cx="1878178" cy="427126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58308" y="1051560"/>
            <a:ext cx="1878178" cy="4234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58308" y="1051560"/>
            <a:ext cx="1878178" cy="20116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49748" y="2660741"/>
            <a:ext cx="1695298" cy="11857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000" b="0" i="0">
                <a:solidFill>
                  <a:srgbClr val="D4E1F2"/>
                </a:solidFill>
                <a:latin typeface="Arial"/>
              </a:rPr>
              <a:t>[Roster Management]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8308" y="5414263"/>
            <a:ext cx="1878178" cy="493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Arial"/>
              </a:rPr>
              <a:t>Roster</a:t>
            </a:r>
          </a:p>
          <a:p>
            <a:pPr algn="ctr">
              <a:spcBef>
                <a:spcPts val="300"/>
              </a:spcBef>
            </a:pPr>
            <a:r>
              <a:rPr sz="900" i="1">
                <a:solidFill>
                  <a:srgbClr val="4F81BD"/>
                </a:solidFill>
                <a:latin typeface="Arial"/>
              </a:rPr>
              <a:t>Reservist list, status, welfare notes, and batch assignment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73646" y="1014983"/>
            <a:ext cx="1878178" cy="427126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73646" y="1051560"/>
            <a:ext cx="1878178" cy="4234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73646" y="1051560"/>
            <a:ext cx="1878178" cy="20116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65086" y="2660741"/>
            <a:ext cx="1695298" cy="11857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000" b="0" i="0">
                <a:solidFill>
                  <a:srgbClr val="D4E1F2"/>
                </a:solidFill>
                <a:latin typeface="Arial"/>
              </a:rPr>
              <a:t>[Cycle Report Export]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3646" y="5414263"/>
            <a:ext cx="1878178" cy="6540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0205B"/>
                </a:solidFill>
                <a:latin typeface="Arial"/>
              </a:rPr>
              <a:t>Reports </a:t>
            </a:r>
            <a:r>
              <a:rPr lang="en-SG" sz="1600" b="1" dirty="0">
                <a:solidFill>
                  <a:srgbClr val="00205B"/>
                </a:solidFill>
                <a:latin typeface="Arial"/>
              </a:rPr>
              <a:t>&amp;</a:t>
            </a:r>
            <a:r>
              <a:rPr sz="1600" b="1" dirty="0">
                <a:solidFill>
                  <a:srgbClr val="00205B"/>
                </a:solidFill>
                <a:latin typeface="Arial"/>
              </a:rPr>
              <a:t> Export</a:t>
            </a:r>
          </a:p>
          <a:p>
            <a:pPr algn="ctr">
              <a:spcBef>
                <a:spcPts val="300"/>
              </a:spcBef>
            </a:pPr>
            <a:r>
              <a:rPr sz="900" i="1" dirty="0">
                <a:solidFill>
                  <a:srgbClr val="4F81BD"/>
                </a:solidFill>
                <a:latin typeface="Arial"/>
              </a:rPr>
              <a:t>One-click Excel export or print-ready cycle report</a:t>
            </a:r>
          </a:p>
        </p:txBody>
      </p:sp>
      <p:sp>
        <p:nvSpPr>
          <p:cNvPr id="30" name="Rectangle P5A"/>
          <p:cNvSpPr/>
          <p:nvPr/>
        </p:nvSpPr>
        <p:spPr>
          <a:xfrm>
            <a:off x="9688984" y="1014983"/>
            <a:ext cx="1878178" cy="4271264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P5B"/>
          <p:cNvSpPr/>
          <p:nvPr/>
        </p:nvSpPr>
        <p:spPr>
          <a:xfrm>
            <a:off x="9688984" y="1051560"/>
            <a:ext cx="1878178" cy="4234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P5C"/>
          <p:cNvSpPr/>
          <p:nvPr/>
        </p:nvSpPr>
        <p:spPr>
          <a:xfrm>
            <a:off x="9688984" y="1051560"/>
            <a:ext cx="1878178" cy="20116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P5D"/>
          <p:cNvSpPr txBox="1"/>
          <p:nvPr/>
        </p:nvSpPr>
        <p:spPr>
          <a:xfrm>
            <a:off x="9780424" y="2660741"/>
            <a:ext cx="1695298" cy="11857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000" b="0" i="0">
                <a:solidFill>
                  <a:srgbClr val="D4E1F2"/>
                </a:solidFill>
                <a:latin typeface="Arial"/>
              </a:rPr>
              <a:t>[Cycle Settings]</a:t>
            </a:r>
          </a:p>
        </p:txBody>
      </p:sp>
      <p:sp>
        <p:nvSpPr>
          <p:cNvPr id="34" name="TextBox P5E"/>
          <p:cNvSpPr txBox="1"/>
          <p:nvPr/>
        </p:nvSpPr>
        <p:spPr>
          <a:xfrm>
            <a:off x="9688984" y="5414263"/>
            <a:ext cx="1878178" cy="493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Arial"/>
              </a:rPr>
              <a:t>Cycle Setup</a:t>
            </a:r>
          </a:p>
          <a:p>
            <a:pPr algn="ctr">
              <a:spcBef>
                <a:spcPts val="300"/>
              </a:spcBef>
            </a:pPr>
            <a:r>
              <a:rPr sz="900" i="1">
                <a:solidFill>
                  <a:srgbClr val="4F81BD"/>
                </a:solidFill>
                <a:latin typeface="Arial"/>
              </a:rPr>
              <a:t>Create cycles, GPS zones, no-report days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0C7B2FB-FF94-D370-6920-A0F6C4A84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53" y="998512"/>
            <a:ext cx="1892888" cy="34880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6BB6DE-7FCA-9315-36BA-3DEC74755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291" y="998512"/>
            <a:ext cx="1954113" cy="362646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23EE41F-608D-94A2-8B82-9907EBB7A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984" y="998512"/>
            <a:ext cx="1879309" cy="348247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D2A464E-E749-5427-A5F8-A0501961F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759" y="998512"/>
            <a:ext cx="1884390" cy="348804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577A832-BC2E-7B55-B032-1F7304847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0277" y="998512"/>
            <a:ext cx="1876322" cy="34989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Expected Benefits and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9939528" cy="67665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64008" cy="67665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1368" y="1051560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Real-Time Visibility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1368" y="1371600"/>
            <a:ext cx="9692640" cy="11887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368" y="1399031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205B"/>
                </a:solidFill>
                <a:latin typeface="Arial"/>
              </a:rPr>
              <a:t>See who is present, absent, or on MC without being physically on 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7632" y="1792224"/>
            <a:ext cx="9939528" cy="67665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7632" y="1792224"/>
            <a:ext cx="64008" cy="67665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1368" y="1792223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GPS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1368" y="2112264"/>
            <a:ext cx="9692640" cy="11887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01368" y="213969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205B"/>
                </a:solidFill>
                <a:latin typeface="Arial"/>
              </a:rPr>
              <a:t>Device location confirmed before each check-in is recorded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7632" y="2532888"/>
            <a:ext cx="9939528" cy="67665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27632" y="2532888"/>
            <a:ext cx="64008" cy="676656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01368" y="2532888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Full Attendance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1368" y="2852928"/>
            <a:ext cx="9692640" cy="11887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01368" y="2880360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205B"/>
                </a:solidFill>
                <a:latin typeface="Arial"/>
              </a:rPr>
              <a:t>Complete attendance records and trends for every reservist and cycle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2" y="3273552"/>
            <a:ext cx="9939528" cy="67665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27632" y="3273552"/>
            <a:ext cx="64008" cy="676656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1368" y="3273552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Early Accountability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1368" y="3593592"/>
            <a:ext cx="9692640" cy="11887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01368" y="3621024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205B"/>
                </a:solidFill>
                <a:latin typeface="Arial"/>
              </a:rPr>
              <a:t>Absent patterns identified automatically before they become critical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27632" y="4014216"/>
            <a:ext cx="9939528" cy="67665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627632" y="4014216"/>
            <a:ext cx="64008" cy="67665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01368" y="4014216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Digital Leave and MC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01368" y="4334256"/>
            <a:ext cx="9692640" cy="11887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01368" y="436168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205B"/>
                </a:solidFill>
                <a:latin typeface="Arial"/>
              </a:rPr>
              <a:t>End-to-end digital handling with a full approval and rejection history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27632" y="4754880"/>
            <a:ext cx="9939528" cy="67665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27632" y="4754880"/>
            <a:ext cx="64008" cy="676656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01368" y="4754880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Permanent Records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01368" y="5074920"/>
            <a:ext cx="9692640" cy="11887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01368" y="5102352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205B"/>
                </a:solidFill>
                <a:latin typeface="Arial"/>
              </a:rPr>
              <a:t>Replaces memory and scattered chat logs with a verified digital trail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27632" y="5495544"/>
            <a:ext cx="9939528" cy="67665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627632" y="5495544"/>
            <a:ext cx="64008" cy="67665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01368" y="5495544"/>
            <a:ext cx="9710928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 dirty="0">
                <a:solidFill>
                  <a:srgbClr val="4F81BD"/>
                </a:solidFill>
                <a:latin typeface="Arial"/>
              </a:rPr>
              <a:t>Reduced Admin Work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01368" y="5815583"/>
            <a:ext cx="9692640" cy="11887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01368" y="584301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205B"/>
                </a:solidFill>
                <a:latin typeface="Arial"/>
              </a:rPr>
              <a:t>One-click exports and live dashboards cut manual coordination effort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Security and Compliance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126672" y="3146487"/>
            <a:ext cx="11062624" cy="504458"/>
          </a:xfrm>
          <a:ln>
            <a:noFill/>
          </a:ln>
        </p:spPr>
        <p:txBody>
          <a:bodyPr wrap="square"/>
          <a:lstStyle/>
          <a:p>
            <a:pPr algn="ctr"/>
            <a:r>
              <a:rPr sz="2000" b="0" dirty="0">
                <a:solidFill>
                  <a:srgbClr val="FFFFFF"/>
                </a:solidFill>
              </a:rPr>
              <a:t>Data protection, access control and PDPA alignment for Ops Security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Data Security and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4878324" cy="25328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64008" cy="253288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1368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Access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1368" y="1444751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368" y="1490472"/>
            <a:ext cx="4631436" cy="20208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Three-tier roles: Reservist, Admin, Super Admin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Each role restricted to authorised data only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Super Admin approval required for account changes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All actions tied to authenticated identity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7632" y="3721608"/>
            <a:ext cx="4878324" cy="25328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7632" y="3721608"/>
            <a:ext cx="64008" cy="25328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1368" y="3822192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Session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1368" y="4114800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01368" y="4160520"/>
            <a:ext cx="4631436" cy="20208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Automatic logout after a period of inactivity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Secure auth tokens managed by Supabase Auth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No personal data stored on the device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Login required on every new session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88836" y="1051560"/>
            <a:ext cx="4878324" cy="25328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88836" y="1051560"/>
            <a:ext cx="64008" cy="253288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2572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Data Protection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62572" y="1444751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2572" y="1490472"/>
            <a:ext cx="4631436" cy="20208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PostgreSQL: encrypted at rest and in transit (TLS)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Row-level security enforced at database layer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No third-party data sharing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ISO 27001 certified; SOC 2 Type II compliant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88836" y="3721608"/>
            <a:ext cx="4878324" cy="25328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88836" y="3721608"/>
            <a:ext cx="64008" cy="25328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62572" y="3822192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Audit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62572" y="4114800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62572" y="4160520"/>
            <a:ext cx="4631436" cy="20208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Every edit logged with timestamp and user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Leave decisions and admin actions recorded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Full history available for compliance review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Immutable log; edits cannot be silently deleted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6355080"/>
            <a:ext cx="993952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00" b="0" i="1">
                <a:solidFill>
                  <a:srgbClr val="4F81BD"/>
                </a:solidFill>
                <a:latin typeface="Arial"/>
              </a:rPr>
              <a:t>Hosted externally on Supabase - comparable in approach to Google Forms, with stronger security controls. No SPF infrastructure required.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PDPA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051560"/>
            <a:ext cx="9939528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Designed to align with the Personal Data Protection Act 2012 (PDPA) and government data governance principles.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7632" y="1600200"/>
            <a:ext cx="4878324" cy="222199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27632" y="1600200"/>
            <a:ext cx="64008" cy="2221992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1368" y="170078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Data Collected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1368" y="1993392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01368" y="2039112"/>
            <a:ext cx="4631436" cy="1709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Name and contact number (at registration)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GPS location (at check-in only)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Attendance and leave records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No NRIC or financial data collected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7632" y="3977639"/>
            <a:ext cx="4878324" cy="222199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27632" y="3977639"/>
            <a:ext cx="64008" cy="22219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01368" y="407822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Individual Rights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1368" y="4370831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01368" y="4416552"/>
            <a:ext cx="4631436" cy="1709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Reservists may request their own records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Corrections made by authorised admin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Data deleted after NS liability ends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Requests handled within a reasonable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88836" y="1600200"/>
            <a:ext cx="4878324" cy="222199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88836" y="1600200"/>
            <a:ext cx="64008" cy="2221992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2572" y="170078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Key Obligations Met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62572" y="1993392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62572" y="2039112"/>
            <a:ext cx="4631436" cy="1709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Consent obtained at sign-up before data collected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Purpose limited to attendance management only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Only necessary data collected (data minimisation)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Encryption, access control, row-level 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88836" y="3977639"/>
            <a:ext cx="4878324" cy="222199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88836" y="3977639"/>
            <a:ext cx="64008" cy="2221992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2572" y="407822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Recommended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2572" y="4370831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2572" y="4416552"/>
            <a:ext cx="4631436" cy="1709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Seek Data Protection Officer guidance before deployment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Define data retention period per SPF policy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Include a privacy notice at reservist sign-up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Document the lawful basis for data collection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The Business Case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126671" y="3207056"/>
            <a:ext cx="11062624" cy="504458"/>
          </a:xfrm>
          <a:ln>
            <a:noFill/>
          </a:ln>
        </p:spPr>
        <p:txBody>
          <a:bodyPr wrap="square"/>
          <a:lstStyle/>
          <a:p>
            <a:pPr algn="ctr"/>
            <a:r>
              <a:rPr sz="2000" b="0" dirty="0">
                <a:solidFill>
                  <a:srgbClr val="FFFFFF"/>
                </a:solidFill>
              </a:rPr>
              <a:t>Zero licensing cost with measurable operational impact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Cost and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4878324" cy="25328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64008" cy="25328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1368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OpsTracker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1368" y="1444751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368" y="1490472"/>
            <a:ext cx="4631436" cy="20208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Development: SGD 0 (built in-house)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Hosting: SGD 0 (Netlify or GitHub Pages)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Database: SGD 0 (Supabase free tier)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Custom domain: ~SGD 15/year (optional)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7632" y="3721608"/>
            <a:ext cx="4878324" cy="25328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7632" y="3721608"/>
            <a:ext cx="64008" cy="25328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1368" y="3822192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Scale for This Unit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1368" y="4114800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01368" y="4160520"/>
            <a:ext cx="4704588" cy="17312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At 5 to 7 reservists per week, under 1,000 records per year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Free tier (50,000 rows) supports decades at this scale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Paid upgrade (SGD 25/month) unlikely to ever be needed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Zero cost escalation risk for the foreseeable future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88836" y="1051560"/>
            <a:ext cx="4878324" cy="25328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88836" y="1051560"/>
            <a:ext cx="64008" cy="253288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2572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Commercial Equivalent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62572" y="1444751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2572" y="1490472"/>
            <a:ext cx="4631436" cy="20208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Off-the-shelf HR SaaS: SGD 5 to 15 per user per month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100 users: up to SGD 18,000 per year in licensing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No commercial tool is built for NS exercise workflows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OpsTracker: purpose-built at zero licensing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88836" y="3721608"/>
            <a:ext cx="4878324" cy="25328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88836" y="3721608"/>
            <a:ext cx="64008" cy="253288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62572" y="3822192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Additional 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62572" y="4114800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62572" y="4160520"/>
            <a:ext cx="4631436" cy="20208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Source code fully owned by the unit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Purpose-built for SPF NS shift and leave workflows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No developer knowledge needed to operate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Fully transferable to successor at zero cost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2042" y="1051560"/>
            <a:ext cx="3221735" cy="521208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64008" cy="52120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1368" y="1152144"/>
            <a:ext cx="299313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Next Cycle Is the Window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1368" y="1444751"/>
            <a:ext cx="2974847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368" y="1490472"/>
            <a:ext cx="2974847" cy="16158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The next Ops Security cycle is the optimal deployment window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Delaying means another cycle without records or accountability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Starting now ensures the system is ready when reservists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6528" y="1051560"/>
            <a:ext cx="3221735" cy="521208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86528" y="1051560"/>
            <a:ext cx="64008" cy="521208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0264" y="1152144"/>
            <a:ext cx="299313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ORD Deadline: May 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0264" y="1444751"/>
            <a:ext cx="2974847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0264" y="1490472"/>
            <a:ext cx="2974847" cy="140038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NSPI Sun Jin ORDs in May 2027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System must be stable and handed over by March 2027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A delayed start risks a rushed or incomplete handover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45423" y="1051560"/>
            <a:ext cx="3221735" cy="521208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45423" y="1051560"/>
            <a:ext cx="64008" cy="52120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19159" y="1152144"/>
            <a:ext cx="299313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Zero Cost to Approve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19159" y="1444751"/>
            <a:ext cx="2974847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19159" y="1490472"/>
            <a:ext cx="2974847" cy="47000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</a:t>
            </a:r>
            <a:r>
              <a:rPr sz="1400" dirty="0" err="1">
                <a:solidFill>
                  <a:srgbClr val="00205B"/>
                </a:solidFill>
                <a:latin typeface="Arial"/>
              </a:rPr>
              <a:t>OpsTracker</a:t>
            </a:r>
            <a:r>
              <a:rPr sz="1400" dirty="0">
                <a:solidFill>
                  <a:srgbClr val="00205B"/>
                </a:solidFill>
                <a:latin typeface="Arial"/>
              </a:rPr>
              <a:t> is already built and tested; no further dev cost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Running cost: SGD 0 to SGD 15 per year at this scale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Every cycle without it is a cycle without accountability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System is ready the moment approval is given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dirty="0">
                <a:solidFill/>
              </a:rPr>
              <a:t>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4878324" cy="521208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64008" cy="521208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1368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Technical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1368" y="1444751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368" y="1490472"/>
            <a:ext cx="4631436" cy="47000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GPS accuracy can vary indoors or in covered spaces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Some in-app browsers limit PWA features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Service worker versioning needed for reliable updates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Network reconnection handling in poor signal areas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88836" y="1051560"/>
            <a:ext cx="4878324" cy="521208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88836" y="1051560"/>
            <a:ext cx="64008" cy="52120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62572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Operational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62572" y="1444751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2572" y="1490472"/>
            <a:ext cx="4631436" cy="47000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Encouraging reservists to check in via the app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Admin training required for full dashboard use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Sync reliability to be validated before field use</a:t>
            </a:r>
          </a:p>
          <a:p>
            <a:pPr>
              <a:spcBef>
                <a:spcPts val="900"/>
              </a:spcBef>
            </a:pPr>
            <a:r>
              <a:rPr sz="1500" dirty="0">
                <a:solidFill>
                  <a:srgbClr val="00205B"/>
                </a:solidFill>
                <a:latin typeface="Arial"/>
              </a:rPr>
              <a:t>•  Cross-device QA across iOS and Android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Deployment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098859"/>
              </p:ext>
            </p:extLst>
          </p:nvPr>
        </p:nvGraphicFramePr>
        <p:xfrm>
          <a:off x="1627632" y="836204"/>
          <a:ext cx="9939528" cy="5966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9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✓ Development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App fully built, tested, and ready for deployment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012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Approval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Aug 2026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Committee approval received; system configuration begins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Admin Setup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Sep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GPS boundaries set; first cycle created; admins trained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Soft Launch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Oct 2026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Deploy for the next Ops Security reservist cycle; validate in real conditions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Full Rollout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Nov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All Ops Security reservists onboarded; live for all subsequent cycles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Stabilise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Dec 2026 - Feb 2027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Full operations; feedback collected; refinements applied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Handover Prep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Mar - Apr 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Docs finalised; successor designated and trained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ORD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May 2027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205B"/>
                          </a:solidFill>
                          <a:latin typeface="Arial"/>
                        </a:rPr>
                        <a:t>Ownership transferred; NSPI Sun Jin ORDs</a:t>
                      </a:r>
                    </a:p>
                  </a:txBody>
                  <a:tcPr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dirty="0">
                <a:solidFill/>
              </a:rPr>
              <a:t>Handover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64008" cy="230428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1368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Role-Based Continuity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1368" y="1444751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368" y="1490472"/>
            <a:ext cx="4631436" cy="140038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No designated successor required in advance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Whoever takes the NS coordination role inherits the system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Super Admin access transferred to incoming </a:t>
            </a:r>
            <a:r>
              <a:rPr sz="1400" dirty="0" err="1">
                <a:solidFill>
                  <a:srgbClr val="00205B"/>
                </a:solidFill>
                <a:latin typeface="Arial"/>
              </a:rPr>
              <a:t>NSman</a:t>
            </a:r>
            <a:r>
              <a:rPr sz="1400" dirty="0">
                <a:solidFill>
                  <a:srgbClr val="00205B"/>
                </a:solidFill>
                <a:latin typeface="Arial"/>
              </a:rPr>
              <a:t> or Regular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7632" y="3493008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7632" y="3493008"/>
            <a:ext cx="64008" cy="23042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1368" y="3593591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What Will Be Provided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1368" y="3886200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01368" y="3931920"/>
            <a:ext cx="4631436" cy="151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Admin user manual for all day-to-day operations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SOP: cycle creation, onboarding</a:t>
            </a:r>
            <a:r>
              <a:rPr lang="en-SG" sz="1400" dirty="0">
                <a:solidFill>
                  <a:srgbClr val="00205B"/>
                </a:solidFill>
                <a:latin typeface="Arial"/>
              </a:rPr>
              <a:t> </a:t>
            </a:r>
            <a:r>
              <a:rPr sz="1400" dirty="0">
                <a:solidFill>
                  <a:srgbClr val="00205B"/>
                </a:solidFill>
                <a:latin typeface="Arial"/>
              </a:rPr>
              <a:t>and report exports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Troubleshooting guide for common issues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NSPI Sun Jin will not provide post-ORD support - system designed for full independence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88836" y="1051560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88836" y="1051560"/>
            <a:ext cx="64008" cy="230428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2572" y="1152144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What Gets Transferred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62572" y="1444751"/>
            <a:ext cx="4631436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2572" y="1490472"/>
            <a:ext cx="4631436" cy="17922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</a:t>
            </a:r>
            <a:r>
              <a:rPr sz="1400" dirty="0" err="1">
                <a:solidFill>
                  <a:srgbClr val="00205B"/>
                </a:solidFill>
                <a:latin typeface="Arial"/>
              </a:rPr>
              <a:t>Supabase</a:t>
            </a:r>
            <a:r>
              <a:rPr sz="1400" dirty="0">
                <a:solidFill>
                  <a:srgbClr val="00205B"/>
                </a:solidFill>
                <a:latin typeface="Arial"/>
              </a:rPr>
              <a:t> project ownership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Hosting account (Netlify or GitHub Pages)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Domain registrar credentials if applicable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Source code repository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88836" y="3493008"/>
            <a:ext cx="4878324" cy="2304288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88836" y="3493008"/>
            <a:ext cx="64008" cy="23042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62572" y="3593591"/>
            <a:ext cx="464972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Sustainability by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62572" y="3886200"/>
            <a:ext cx="4631436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62572" y="3931920"/>
            <a:ext cx="4631436" cy="17922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All admin functions in-app; no command line needed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Role-based access limits scope and risk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System updates require no technical knowledge</a:t>
            </a:r>
          </a:p>
          <a:p>
            <a:pPr>
              <a:spcBef>
                <a:spcPts val="900"/>
              </a:spcBef>
            </a:pPr>
            <a:r>
              <a:rPr sz="1400" dirty="0">
                <a:solidFill>
                  <a:srgbClr val="00205B"/>
                </a:solidFill>
                <a:latin typeface="Arial"/>
              </a:rPr>
              <a:t>•  Free tier: no billing or renewal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5897880"/>
            <a:ext cx="993952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00" b="0" i="1">
                <a:solidFill>
                  <a:srgbClr val="4F81BD"/>
                </a:solidFill>
                <a:latin typeface="Arial"/>
              </a:rPr>
              <a:t>Designed so any incoming NSman stepping into the role can be fully operational within half a day.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>
                <a:solidFill/>
              </a:rPr>
              <a:t>Future Plans and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3191256" cy="219456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64008" cy="21945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1368" y="1152144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0205B"/>
                </a:solidFill>
                <a:latin typeface="Arial"/>
              </a:rPr>
              <a:t>Near-Term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1368" y="1444751"/>
            <a:ext cx="2944368" cy="1463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368" y="1490472"/>
            <a:ext cx="2944368" cy="10079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Push notifications for check-in windows</a:t>
            </a:r>
          </a:p>
          <a:p>
            <a:pPr>
              <a:spcBef>
                <a:spcPts val="9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Automated WhatsApp attendance reminders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1768" y="1051560"/>
            <a:ext cx="3191256" cy="219456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01768" y="1051560"/>
            <a:ext cx="64008" cy="21945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75504" y="1152144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Mid-Term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75504" y="1444751"/>
            <a:ext cx="2944368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75504" y="1490472"/>
            <a:ext cx="2944368" cy="16824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Attendance trend analytics and absence alerts</a:t>
            </a:r>
          </a:p>
          <a:p>
            <a:pPr>
              <a:spcBef>
                <a:spcPts val="9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Native mobile app with stronger offline support</a:t>
            </a:r>
          </a:p>
          <a:p>
            <a:pPr>
              <a:spcBef>
                <a:spcPts val="9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Auto-generate and send cycle reports on close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75904" y="1051560"/>
            <a:ext cx="3191256" cy="219456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75904" y="1051560"/>
            <a:ext cx="64008" cy="21945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1152144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4F81BD"/>
                </a:solidFill>
                <a:latin typeface="Arial"/>
              </a:rPr>
              <a:t>Long-Term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1444751"/>
            <a:ext cx="2944368" cy="1463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490472"/>
            <a:ext cx="2944368" cy="16824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SPF HR or NS portal integration</a:t>
            </a:r>
          </a:p>
          <a:p>
            <a:pPr>
              <a:spcBef>
                <a:spcPts val="9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Automated report submission to HQ</a:t>
            </a:r>
          </a:p>
          <a:p>
            <a:pPr>
              <a:spcBef>
                <a:spcPts val="900"/>
              </a:spcBef>
            </a:pPr>
            <a:r>
              <a:rPr sz="1300" dirty="0">
                <a:solidFill>
                  <a:srgbClr val="00205B"/>
                </a:solidFill>
                <a:latin typeface="Arial"/>
              </a:rPr>
              <a:t>•  Single sign-on with NS credentials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2" y="3447288"/>
            <a:ext cx="9939528" cy="285292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6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</a:rPr>
              <a:t>We Are Asking For Your Approval</a:t>
            </a:r>
            <a:endParaRPr lang="en-SG" sz="2000" b="1" dirty="0">
              <a:solidFill>
                <a:srgbClr val="FFFFFF"/>
              </a:solidFill>
              <a:latin typeface="Arial"/>
            </a:endParaRPr>
          </a:p>
          <a:p>
            <a:pPr algn="ctr">
              <a:spcBef>
                <a:spcPts val="1600"/>
              </a:spcBef>
            </a:pPr>
            <a:endParaRPr sz="1000" b="1" dirty="0">
              <a:solidFill>
                <a:srgbClr val="FFFFFF"/>
              </a:solidFill>
              <a:latin typeface="Arial"/>
            </a:endParaRP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FFFFFF"/>
                </a:solidFill>
                <a:latin typeface="Arial"/>
              </a:rPr>
              <a:t>    •  Deploy </a:t>
            </a:r>
            <a:r>
              <a:rPr sz="1400" dirty="0" err="1">
                <a:solidFill>
                  <a:srgbClr val="FFFFFF"/>
                </a:solidFill>
                <a:latin typeface="Arial"/>
              </a:rPr>
              <a:t>OpsTracker</a:t>
            </a:r>
            <a:r>
              <a:rPr sz="1400" dirty="0">
                <a:solidFill>
                  <a:srgbClr val="FFFFFF"/>
                </a:solidFill>
                <a:latin typeface="Arial"/>
              </a:rPr>
              <a:t> at the start of the next Ops Security reservist cycle</a:t>
            </a: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FFFFFF"/>
                </a:solidFill>
                <a:latin typeface="Arial"/>
              </a:rPr>
              <a:t>    •  Onboard all Ops Security reservists into the system</a:t>
            </a: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FFFFFF"/>
                </a:solidFill>
                <a:latin typeface="Arial"/>
              </a:rPr>
              <a:t>    •  Initiate IT security review for official and broader deployment</a:t>
            </a:r>
          </a:p>
          <a:p>
            <a:pPr algn="ctr">
              <a:spcBef>
                <a:spcPts val="1400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</a:rPr>
              <a:t>System is ready now. Onboarding can begin immediately.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632" y="3447288"/>
            <a:ext cx="9939528" cy="502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 algn="ctr"/>
            <a:r>
              <a:rPr sz="3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126672" y="3146487"/>
            <a:ext cx="11062624" cy="504458"/>
          </a:xfrm>
          <a:ln>
            <a:noFill/>
          </a:ln>
        </p:spPr>
        <p:txBody>
          <a:bodyPr/>
          <a:lstStyle/>
          <a:p>
            <a:pPr algn="ctr"/>
            <a:r>
              <a:rPr sz="2000" b="0" dirty="0" err="1">
                <a:solidFill>
                  <a:srgbClr val="FFFFFF"/>
                </a:solidFill>
              </a:rPr>
              <a:t>OpsTracker</a:t>
            </a:r>
            <a:r>
              <a:rPr sz="2000" b="0" dirty="0">
                <a:solidFill>
                  <a:srgbClr val="FFFFFF"/>
                </a:solidFill>
              </a:rPr>
              <a:t> is ready for deployment</a:t>
            </a:r>
            <a:r>
              <a:rPr lang="en-SG" sz="2000" b="0" dirty="0">
                <a:solidFill>
                  <a:srgbClr val="FFFFFF"/>
                </a:solidFill>
              </a:rPr>
              <a:t>. </a:t>
            </a:r>
            <a:r>
              <a:rPr lang="en-SG" sz="2000" dirty="0">
                <a:solidFill>
                  <a:srgbClr val="FFFFFF"/>
                </a:solidFill>
              </a:rPr>
              <a:t>A</a:t>
            </a:r>
            <a:r>
              <a:rPr sz="2000" b="0" dirty="0">
                <a:solidFill>
                  <a:srgbClr val="FFFFFF"/>
                </a:solidFill>
              </a:rPr>
              <a:t>waiting your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ice Powerpoint Presentation Template (12 Aug 2024)  -  Read-Only" id="{676E9AEE-973E-48E2-A699-3846E43F4EE9}" vid="{3CCE130D-0E26-4EF3-8A01-58128E2EBF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b22ebf2f-64d7-4bd5-a8c0-7ea1a061f64e" origin="userSelected">
  <element uid="00e748fc-2738-46e7-a760-20195d3344d7" value=""/>
</sisl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3CCB1D34CA640B33D3DF480713A93" ma:contentTypeVersion="0" ma:contentTypeDescription="Create a new document." ma:contentTypeScope="" ma:versionID="5d113371de4aff75ac499771f3590ae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53f2d8843fd2aa64b81f9e8c63a661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1D0FD7-016A-4F44-96D4-EBF0A26D3298}">
  <ds:schemaRefs>
    <ds:schemaRef ds:uri="http://www.w3.org/2001/XMLSchema"/>
    <ds:schemaRef ds:uri="http://www.boldonjames.com/2008/01/sie/internal/label"/>
  </ds:schemaRefs>
</ds:datastoreItem>
</file>

<file path=customXml/itemProps2.xml><?xml version="1.0" encoding="utf-8"?>
<ds:datastoreItem xmlns:ds="http://schemas.openxmlformats.org/officeDocument/2006/customXml" ds:itemID="{5741CC6E-3804-4127-A215-9061361B1C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45C6B01-3972-491C-B97E-B4E08FFC0A2D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CDC202C0-019D-4B8B-A4EB-DC5DF4888E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ppt_template_wide_screen_290824 (1)</Template>
  <TotalTime>23382</TotalTime>
  <Words>2059</Words>
  <Application>Microsoft Office PowerPoint</Application>
  <PresentationFormat>Widescreen</PresentationFormat>
  <Paragraphs>363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Calibri</vt:lpstr>
      <vt:lpstr>Wingdings</vt:lpstr>
      <vt:lpstr>Template</vt:lpstr>
      <vt:lpstr>OpsTracker Digital Attendance Management for SPF NS Reservists</vt:lpstr>
      <vt:lpstr>Agenda</vt:lpstr>
      <vt:lpstr>Executive Summary</vt:lpstr>
      <vt:lpstr>The Problem</vt:lpstr>
      <vt:lpstr>The Problem</vt:lpstr>
      <vt:lpstr>Before vs After</vt:lpstr>
      <vt:lpstr>The Solution</vt:lpstr>
      <vt:lpstr>Introducing OpsTracker</vt:lpstr>
      <vt:lpstr>Reservist Experience</vt:lpstr>
      <vt:lpstr>Admin and Supervisor Capabilities</vt:lpstr>
      <vt:lpstr>Reservist App Screens</vt:lpstr>
      <vt:lpstr>Admin Dashboard Screens</vt:lpstr>
      <vt:lpstr>Expected Benefits and Impact</vt:lpstr>
      <vt:lpstr>Security and Compliance</vt:lpstr>
      <vt:lpstr>Data Security and Privacy</vt:lpstr>
      <vt:lpstr>PDPA Compliance</vt:lpstr>
      <vt:lpstr>The Business Case</vt:lpstr>
      <vt:lpstr>Cost and Value</vt:lpstr>
      <vt:lpstr>Why Now</vt:lpstr>
      <vt:lpstr>Challenges</vt:lpstr>
      <vt:lpstr>Deployment Timeline</vt:lpstr>
      <vt:lpstr>Handover Plan</vt:lpstr>
      <vt:lpstr>Future Plans and Recommendation</vt:lpstr>
      <vt:lpstr>Thank You</vt:lpstr>
    </vt:vector>
  </TitlesOfParts>
  <Manager>SPF-PAD-WDU@spf.gov.sg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 Jin GOH (SPF)</dc:creator>
  <cp:lastModifiedBy>Sun-Jin Goh</cp:lastModifiedBy>
  <cp:revision>443</cp:revision>
  <dcterms:created xsi:type="dcterms:W3CDTF">2025-11-17T01:33:19Z</dcterms:created>
  <dcterms:modified xsi:type="dcterms:W3CDTF">2026-08-18T06:51:45Z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158a2e11-761b-4b75-999d-03f9eb54f8c9</vt:lpwstr>
  </property>
  <property fmtid="{D5CDD505-2E9C-101B-9397-08002B2CF9AE}" pid="3" name="MSIP_Label_54803508-8490-4252-b331-d9b72689e942_Enabled">
    <vt:lpwstr>true</vt:lpwstr>
  </property>
  <property fmtid="{D5CDD505-2E9C-101B-9397-08002B2CF9AE}" pid="4" name="MSIP_Label_54803508-8490-4252-b331-d9b72689e942_SetDate">
    <vt:lpwstr>2022-08-26T09:10:34Z</vt:lpwstr>
  </property>
  <property fmtid="{D5CDD505-2E9C-101B-9397-08002B2CF9AE}" pid="5" name="MSIP_Label_54803508-8490-4252-b331-d9b72689e942_Method">
    <vt:lpwstr>Privileged</vt:lpwstr>
  </property>
  <property fmtid="{D5CDD505-2E9C-101B-9397-08002B2CF9AE}" pid="6" name="MSIP_Label_54803508-8490-4252-b331-d9b72689e942_Name">
    <vt:lpwstr>Non Sensitive_0</vt:lpwstr>
  </property>
  <property fmtid="{D5CDD505-2E9C-101B-9397-08002B2CF9AE}" pid="7" name="MSIP_Label_54803508-8490-4252-b331-d9b72689e942_SiteId">
    <vt:lpwstr>0b11c524-9a1c-4e1b-84cb-6336aefc2243</vt:lpwstr>
  </property>
  <property fmtid="{D5CDD505-2E9C-101B-9397-08002B2CF9AE}" pid="8" name="MSIP_Label_54803508-8490-4252-b331-d9b72689e942_ActionId">
    <vt:lpwstr>ba66af44-caba-4b54-940d-000b1779212c</vt:lpwstr>
  </property>
  <property fmtid="{D5CDD505-2E9C-101B-9397-08002B2CF9AE}" pid="9" name="MSIP_Label_54803508-8490-4252-b331-d9b72689e942_ContentBits">
    <vt:lpwstr>0</vt:lpwstr>
  </property>
  <property fmtid="{D5CDD505-2E9C-101B-9397-08002B2CF9AE}" pid="10" name="ContentTypeId">
    <vt:lpwstr>0x010100D923CCB1D34CA640B33D3DF480713A93</vt:lpwstr>
  </property>
</Properties>
</file>